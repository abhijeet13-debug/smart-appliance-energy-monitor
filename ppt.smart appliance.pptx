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Montserrat ExtraBold" charset="0"/>
      <p:bold r:id="rId14"/>
      <p:boldItalic r:id="rId15"/>
    </p:embeddedFont>
    <p:embeddedFont>
      <p:font typeface="Calibri" pitchFamily="34" charset="0"/>
      <p:regular r:id="rId16"/>
      <p:bold r:id="rId17"/>
      <p:italic r:id="rId18"/>
      <p:boldItalic r:id="rId19"/>
    </p:embeddedFont>
    <p:embeddedFont>
      <p:font typeface="Roboto" charset="0"/>
      <p:regular r:id="rId20"/>
      <p:bold r:id="rId21"/>
      <p:italic r:id="rId22"/>
      <p:boldItalic r:id="rId23"/>
    </p:embeddedFont>
    <p:embeddedFont>
      <p:font typeface="Montserrat" charset="0"/>
      <p:regular r:id="rId24"/>
      <p:bold r:id="rId25"/>
      <p:italic r:id="rId26"/>
      <p:boldItalic r:id="rId27"/>
    </p:embeddedFont>
    <p:embeddedFont>
      <p:font typeface="Roboto Medium" charset="0"/>
      <p:regular r:id="rId28"/>
      <p:bold r:id="rId29"/>
      <p:italic r:id="rId30"/>
      <p:boldItalic r:id="rId31"/>
    </p:embeddedFont>
    <p:embeddedFont>
      <p:font typeface="Montserrat SemiBold"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1" d="100"/>
          <a:sy n="91" d="100"/>
        </p:scale>
        <p:origin x="-102"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34" Type="http://schemas.openxmlformats.org/officeDocument/2006/relationships/font" Target="fonts/font2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font" Target="fonts/font1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7694735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6" name="Google Shape;36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8.png"/><Relationship Id="rId10" Type="http://schemas.openxmlformats.org/officeDocument/2006/relationships/image" Target="../media/image14.png"/><Relationship Id="rId4" Type="http://schemas.openxmlformats.org/officeDocument/2006/relationships/image" Target="../media/image7.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8.png"/><Relationship Id="rId10" Type="http://schemas.openxmlformats.org/officeDocument/2006/relationships/image" Target="../media/image20.png"/><Relationship Id="rId4" Type="http://schemas.openxmlformats.org/officeDocument/2006/relationships/image" Target="../media/image7.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7.png"/><Relationship Id="rId9" Type="http://schemas.openxmlformats.org/officeDocument/2006/relationships/image" Target="../media/image26.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notesSlide" Target="../notesSlides/notesSlide6.xml"/><Relationship Id="rId16"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2.png"/><Relationship Id="rId4" Type="http://schemas.openxmlformats.org/officeDocument/2006/relationships/image" Target="../media/image7.png"/><Relationship Id="rId9" Type="http://schemas.openxmlformats.org/officeDocument/2006/relationships/image" Target="../media/image32.png"/><Relationship Id="rId14" Type="http://schemas.openxmlformats.org/officeDocument/2006/relationships/image" Target="../media/image3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3.png"/></Relationships>
</file>

<file path=ppt/slides/_rels/slide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png"/><Relationship Id="rId7"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7.png"/><Relationship Id="rId9" Type="http://schemas.openxmlformats.org/officeDocument/2006/relationships/image" Target="../media/image48.png"/></Relationships>
</file>

<file path=ppt/slides/_rels/slide9.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8.png"/><Relationship Id="rId10" Type="http://schemas.openxmlformats.org/officeDocument/2006/relationships/image" Target="../media/image53.png"/><Relationship Id="rId4" Type="http://schemas.openxmlformats.org/officeDocument/2006/relationships/image" Target="../media/image7.png"/><Relationship Id="rId9" Type="http://schemas.openxmlformats.org/officeDocument/2006/relationships/image" Target="../media/image5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847725" y="2619375"/>
            <a:ext cx="10496550" cy="1607641"/>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1123950" y="4227016"/>
            <a:ext cx="9944100" cy="1895475"/>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3093987" y="571500"/>
            <a:ext cx="6004024" cy="1238250"/>
          </a:xfrm>
          <a:prstGeom prst="rect">
            <a:avLst/>
          </a:prstGeom>
          <a:noFill/>
          <a:ln>
            <a:noFill/>
          </a:ln>
        </p:spPr>
      </p:pic>
      <p:sp>
        <p:nvSpPr>
          <p:cNvPr id="88" name="Google Shape;88;p13"/>
          <p:cNvSpPr txBox="1"/>
          <p:nvPr/>
        </p:nvSpPr>
        <p:spPr>
          <a:xfrm>
            <a:off x="2215514" y="1933575"/>
            <a:ext cx="7760970"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250" b="0" i="0" u="none" strike="noStrike" cap="none">
                <a:solidFill>
                  <a:srgbClr val="0A4275"/>
                </a:solidFill>
                <a:latin typeface="Montserrat ExtraBold"/>
                <a:ea typeface="Montserrat ExtraBold"/>
                <a:cs typeface="Montserrat ExtraBold"/>
                <a:sym typeface="Montserrat ExtraBold"/>
              </a:rPr>
              <a:t>PDA COLLEGE OF ENGINEERING, KALABURAGI</a:t>
            </a:r>
            <a:endParaRPr/>
          </a:p>
        </p:txBody>
      </p:sp>
      <p:sp>
        <p:nvSpPr>
          <p:cNvPr id="89" name="Google Shape;89;p13"/>
          <p:cNvSpPr txBox="1"/>
          <p:nvPr/>
        </p:nvSpPr>
        <p:spPr>
          <a:xfrm>
            <a:off x="2680573" y="2362200"/>
            <a:ext cx="6830853"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1E81B0"/>
                </a:solidFill>
                <a:latin typeface="Montserrat SemiBold"/>
                <a:ea typeface="Montserrat SemiBold"/>
                <a:cs typeface="Montserrat SemiBold"/>
                <a:sym typeface="Montserrat SemiBold"/>
              </a:rPr>
              <a:t>Department of Artificial Intelligence and Machine Learning</a:t>
            </a:r>
            <a:endParaRPr/>
          </a:p>
        </p:txBody>
      </p:sp>
      <p:sp>
        <p:nvSpPr>
          <p:cNvPr id="90" name="Google Shape;90;p13"/>
          <p:cNvSpPr txBox="1"/>
          <p:nvPr/>
        </p:nvSpPr>
        <p:spPr>
          <a:xfrm>
            <a:off x="1063466" y="2952750"/>
            <a:ext cx="10141267" cy="940891"/>
          </a:xfrm>
          <a:prstGeom prst="rect">
            <a:avLst/>
          </a:prstGeom>
          <a:noFill/>
          <a:ln>
            <a:noFill/>
          </a:ln>
        </p:spPr>
        <p:txBody>
          <a:bodyPr spcFirstLastPara="1" wrap="square" lIns="0" tIns="0" rIns="0" bIns="0" anchor="t" anchorCtr="0">
            <a:spAutoFit/>
          </a:bodyPr>
          <a:lstStyle/>
          <a:p>
            <a:pPr marL="0" marR="0" lvl="0" indent="0" algn="ctr" rtl="0">
              <a:lnSpc>
                <a:spcPct val="129964"/>
              </a:lnSpc>
              <a:spcBef>
                <a:spcPts val="0"/>
              </a:spcBef>
              <a:spcAft>
                <a:spcPts val="0"/>
              </a:spcAft>
              <a:buNone/>
            </a:pPr>
            <a:r>
              <a:rPr lang="en-US" sz="2850" b="1" i="0" u="none" strike="noStrike" cap="none" dirty="0">
                <a:solidFill>
                  <a:srgbClr val="FFFFFF"/>
                </a:solidFill>
                <a:latin typeface="Montserrat"/>
                <a:ea typeface="Montserrat"/>
                <a:cs typeface="Montserrat"/>
                <a:sym typeface="Montserrat"/>
              </a:rPr>
              <a:t>Smart Appliance Energy Monitor Using Non-Intrusive Load Monitoring (NILM)</a:t>
            </a:r>
            <a:endParaRPr dirty="0"/>
          </a:p>
        </p:txBody>
      </p:sp>
      <p:sp>
        <p:nvSpPr>
          <p:cNvPr id="91" name="Google Shape;91;p13"/>
          <p:cNvSpPr txBox="1"/>
          <p:nvPr/>
        </p:nvSpPr>
        <p:spPr>
          <a:xfrm>
            <a:off x="1514475" y="4474666"/>
            <a:ext cx="1866900" cy="180975"/>
          </a:xfrm>
          <a:prstGeom prst="rect">
            <a:avLst/>
          </a:prstGeom>
          <a:noFill/>
          <a:ln>
            <a:noFill/>
          </a:ln>
        </p:spPr>
        <p:txBody>
          <a:bodyPr spcFirstLastPara="1" wrap="square" lIns="195250" tIns="0" rIns="0" bIns="0" anchor="t" anchorCtr="0">
            <a:spAutoFit/>
          </a:bodyPr>
          <a:lstStyle/>
          <a:p>
            <a:pPr marL="0" marR="0" lvl="0" indent="0" algn="l" rtl="0">
              <a:spcBef>
                <a:spcPts val="0"/>
              </a:spcBef>
              <a:spcAft>
                <a:spcPts val="0"/>
              </a:spcAft>
              <a:buNone/>
            </a:pPr>
            <a:r>
              <a:rPr lang="en-US" sz="1200" b="1" i="0" u="none" strike="noStrike" cap="none">
                <a:solidFill>
                  <a:srgbClr val="1E81B0"/>
                </a:solidFill>
                <a:latin typeface="Roboto"/>
                <a:ea typeface="Roboto"/>
                <a:cs typeface="Roboto"/>
                <a:sym typeface="Roboto"/>
              </a:rPr>
              <a:t>PROJECT GUIDE</a:t>
            </a:r>
            <a:endParaRPr/>
          </a:p>
        </p:txBody>
      </p:sp>
      <p:sp>
        <p:nvSpPr>
          <p:cNvPr id="92" name="Google Shape;92;p13"/>
          <p:cNvSpPr txBox="1"/>
          <p:nvPr/>
        </p:nvSpPr>
        <p:spPr>
          <a:xfrm>
            <a:off x="1514474" y="4731840"/>
            <a:ext cx="1946177" cy="34624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1E293B"/>
                </a:solidFill>
                <a:latin typeface="Roboto"/>
                <a:ea typeface="Roboto"/>
                <a:cs typeface="Roboto"/>
                <a:sym typeface="Roboto"/>
              </a:rPr>
              <a:t>Prof. </a:t>
            </a:r>
            <a:r>
              <a:rPr lang="en-US" sz="1500" b="1" i="0" u="none" strike="noStrike" cap="none" dirty="0" err="1">
                <a:solidFill>
                  <a:srgbClr val="1E293B"/>
                </a:solidFill>
                <a:latin typeface="Roboto"/>
                <a:ea typeface="Roboto"/>
                <a:cs typeface="Roboto"/>
                <a:sym typeface="Roboto"/>
              </a:rPr>
              <a:t>Soumya</a:t>
            </a:r>
            <a:r>
              <a:rPr lang="en-US" sz="1500" b="1" i="0" u="none" strike="noStrike" cap="none" dirty="0">
                <a:solidFill>
                  <a:srgbClr val="1E293B"/>
                </a:solidFill>
                <a:latin typeface="Roboto"/>
                <a:ea typeface="Roboto"/>
                <a:cs typeface="Roboto"/>
                <a:sym typeface="Roboto"/>
              </a:rPr>
              <a:t> </a:t>
            </a:r>
            <a:r>
              <a:rPr lang="en-US" sz="1500" b="1" i="0" u="none" strike="noStrike" cap="none" dirty="0" err="1">
                <a:solidFill>
                  <a:srgbClr val="1E293B"/>
                </a:solidFill>
                <a:latin typeface="Roboto"/>
                <a:ea typeface="Roboto"/>
                <a:cs typeface="Roboto"/>
                <a:sym typeface="Roboto"/>
              </a:rPr>
              <a:t>Gaitond</a:t>
            </a:r>
            <a:endParaRPr/>
          </a:p>
        </p:txBody>
      </p:sp>
      <p:sp>
        <p:nvSpPr>
          <p:cNvPr id="93" name="Google Shape;93;p13"/>
          <p:cNvSpPr txBox="1"/>
          <p:nvPr/>
        </p:nvSpPr>
        <p:spPr>
          <a:xfrm>
            <a:off x="8639175" y="4474666"/>
            <a:ext cx="2038350" cy="180975"/>
          </a:xfrm>
          <a:prstGeom prst="rect">
            <a:avLst/>
          </a:prstGeom>
          <a:noFill/>
          <a:ln>
            <a:noFill/>
          </a:ln>
        </p:spPr>
        <p:txBody>
          <a:bodyPr spcFirstLastPara="1" wrap="square" lIns="195250" tIns="0" rIns="0" bIns="0" anchor="t" anchorCtr="0">
            <a:spAutoFit/>
          </a:bodyPr>
          <a:lstStyle/>
          <a:p>
            <a:pPr marL="0" marR="0" lvl="0" indent="0" algn="l" rtl="0">
              <a:spcBef>
                <a:spcPts val="0"/>
              </a:spcBef>
              <a:spcAft>
                <a:spcPts val="0"/>
              </a:spcAft>
              <a:buNone/>
            </a:pPr>
            <a:r>
              <a:rPr lang="en-US" sz="1200" b="1" i="0" u="none" strike="noStrike" cap="none">
                <a:solidFill>
                  <a:srgbClr val="1E81B0"/>
                </a:solidFill>
                <a:latin typeface="Roboto"/>
                <a:ea typeface="Roboto"/>
                <a:cs typeface="Roboto"/>
                <a:sym typeface="Roboto"/>
              </a:rPr>
              <a:t>TEAM MEMBERS</a:t>
            </a:r>
            <a:endParaRPr/>
          </a:p>
        </p:txBody>
      </p:sp>
      <p:sp>
        <p:nvSpPr>
          <p:cNvPr id="94" name="Google Shape;94;p13"/>
          <p:cNvSpPr txBox="1"/>
          <p:nvPr/>
        </p:nvSpPr>
        <p:spPr>
          <a:xfrm>
            <a:off x="8639174" y="4731841"/>
            <a:ext cx="2333625" cy="11430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sz="1500" b="1" i="0" u="none" strike="noStrike" cap="none" dirty="0" err="1">
                <a:solidFill>
                  <a:srgbClr val="1E293B"/>
                </a:solidFill>
                <a:latin typeface="Roboto"/>
                <a:ea typeface="Roboto"/>
                <a:cs typeface="Roboto"/>
                <a:sym typeface="Roboto"/>
              </a:rPr>
              <a:t>Hamsa</a:t>
            </a:r>
            <a:r>
              <a:rPr lang="en-US" sz="1500" b="1" i="0" u="none" strike="noStrike" cap="none" dirty="0">
                <a:solidFill>
                  <a:srgbClr val="1E293B"/>
                </a:solidFill>
                <a:latin typeface="Roboto"/>
                <a:ea typeface="Roboto"/>
                <a:cs typeface="Roboto"/>
                <a:sym typeface="Roboto"/>
              </a:rPr>
              <a:t> V. </a:t>
            </a:r>
            <a:r>
              <a:rPr lang="en-US" sz="1500" b="1" i="0" u="none" strike="noStrike" cap="none" dirty="0" err="1">
                <a:solidFill>
                  <a:srgbClr val="1E293B"/>
                </a:solidFill>
                <a:latin typeface="Roboto"/>
                <a:ea typeface="Roboto"/>
                <a:cs typeface="Roboto"/>
                <a:sym typeface="Roboto"/>
              </a:rPr>
              <a:t>Madamshetty</a:t>
            </a:r>
            <a:r>
              <a:rPr lang="en-US" sz="1800" b="0" i="0" u="none" strike="noStrike" cap="none" dirty="0">
                <a:solidFill>
                  <a:schemeClr val="dk1"/>
                </a:solidFill>
                <a:latin typeface="Calibri"/>
                <a:ea typeface="Calibri"/>
                <a:cs typeface="Calibri"/>
                <a:sym typeface="Calibri"/>
              </a:rPr>
              <a:t/>
            </a:r>
            <a:br>
              <a:rPr lang="en-US" sz="1800" b="0" i="0" u="none" strike="noStrike" cap="none" dirty="0">
                <a:solidFill>
                  <a:schemeClr val="dk1"/>
                </a:solidFill>
                <a:latin typeface="Calibri"/>
                <a:ea typeface="Calibri"/>
                <a:cs typeface="Calibri"/>
                <a:sym typeface="Calibri"/>
              </a:rPr>
            </a:br>
            <a:r>
              <a:rPr lang="en-US" sz="1500" b="1" i="0" u="none" strike="noStrike" cap="none" dirty="0">
                <a:solidFill>
                  <a:srgbClr val="1E293B"/>
                </a:solidFill>
                <a:latin typeface="Roboto"/>
                <a:ea typeface="Roboto"/>
                <a:cs typeface="Roboto"/>
                <a:sym typeface="Roboto"/>
              </a:rPr>
              <a:t> </a:t>
            </a:r>
            <a:r>
              <a:rPr lang="en-US" sz="1500" b="1" i="0" u="none" strike="noStrike" cap="none" dirty="0" err="1">
                <a:solidFill>
                  <a:srgbClr val="1E293B"/>
                </a:solidFill>
                <a:latin typeface="Roboto"/>
                <a:ea typeface="Roboto"/>
                <a:cs typeface="Roboto"/>
                <a:sym typeface="Roboto"/>
              </a:rPr>
              <a:t>Bhargavi</a:t>
            </a:r>
            <a:r>
              <a:rPr lang="en-US" sz="1500" b="1" i="0" u="none" strike="noStrike" cap="none" dirty="0">
                <a:solidFill>
                  <a:srgbClr val="1E293B"/>
                </a:solidFill>
                <a:latin typeface="Roboto"/>
                <a:ea typeface="Roboto"/>
                <a:cs typeface="Roboto"/>
                <a:sym typeface="Roboto"/>
              </a:rPr>
              <a:t> G. </a:t>
            </a:r>
            <a:r>
              <a:rPr lang="en-US" sz="1500" b="1" i="0" u="none" strike="noStrike" cap="none" dirty="0" err="1">
                <a:solidFill>
                  <a:srgbClr val="1E293B"/>
                </a:solidFill>
                <a:latin typeface="Roboto"/>
                <a:ea typeface="Roboto"/>
                <a:cs typeface="Roboto"/>
                <a:sym typeface="Roboto"/>
              </a:rPr>
              <a:t>Kulkarni</a:t>
            </a:r>
            <a:r>
              <a:rPr lang="en-US" sz="1800" b="0" i="0" u="none" strike="noStrike" cap="none" dirty="0">
                <a:solidFill>
                  <a:schemeClr val="dk1"/>
                </a:solidFill>
                <a:latin typeface="Calibri"/>
                <a:ea typeface="Calibri"/>
                <a:cs typeface="Calibri"/>
                <a:sym typeface="Calibri"/>
              </a:rPr>
              <a:t/>
            </a:r>
            <a:br>
              <a:rPr lang="en-US" sz="1800" b="0" i="0" u="none" strike="noStrike" cap="none" dirty="0">
                <a:solidFill>
                  <a:schemeClr val="dk1"/>
                </a:solidFill>
                <a:latin typeface="Calibri"/>
                <a:ea typeface="Calibri"/>
                <a:cs typeface="Calibri"/>
                <a:sym typeface="Calibri"/>
              </a:rPr>
            </a:br>
            <a:r>
              <a:rPr lang="en-US" sz="1500" b="1" i="0" u="none" strike="noStrike" cap="none" dirty="0">
                <a:solidFill>
                  <a:srgbClr val="1E293B"/>
                </a:solidFill>
                <a:latin typeface="Roboto"/>
                <a:ea typeface="Roboto"/>
                <a:cs typeface="Roboto"/>
                <a:sym typeface="Roboto"/>
              </a:rPr>
              <a:t> </a:t>
            </a:r>
            <a:r>
              <a:rPr lang="en-US" sz="1500" b="1" i="0" u="none" strike="noStrike" cap="none" dirty="0" err="1">
                <a:solidFill>
                  <a:srgbClr val="1E293B"/>
                </a:solidFill>
                <a:latin typeface="Roboto"/>
                <a:ea typeface="Roboto"/>
                <a:cs typeface="Roboto"/>
                <a:sym typeface="Roboto"/>
              </a:rPr>
              <a:t>Akshay</a:t>
            </a:r>
            <a:r>
              <a:rPr lang="en-US" sz="1500" b="1" i="0" u="none" strike="noStrike" cap="none" dirty="0">
                <a:solidFill>
                  <a:srgbClr val="1E293B"/>
                </a:solidFill>
                <a:latin typeface="Roboto"/>
                <a:ea typeface="Roboto"/>
                <a:cs typeface="Roboto"/>
                <a:sym typeface="Roboto"/>
              </a:rPr>
              <a:t> A. </a:t>
            </a:r>
            <a:r>
              <a:rPr lang="en-US" sz="1500" b="1" i="0" u="none" strike="noStrike" cap="none" dirty="0" err="1">
                <a:solidFill>
                  <a:srgbClr val="1E293B"/>
                </a:solidFill>
                <a:latin typeface="Roboto"/>
                <a:ea typeface="Roboto"/>
                <a:cs typeface="Roboto"/>
                <a:sym typeface="Roboto"/>
              </a:rPr>
              <a:t>Poddar</a:t>
            </a:r>
            <a:r>
              <a:rPr lang="en-US" sz="1800" b="0" i="0" u="none" strike="noStrike" cap="none" dirty="0">
                <a:solidFill>
                  <a:schemeClr val="dk1"/>
                </a:solidFill>
                <a:latin typeface="Calibri"/>
                <a:ea typeface="Calibri"/>
                <a:cs typeface="Calibri"/>
                <a:sym typeface="Calibri"/>
              </a:rPr>
              <a:t/>
            </a:r>
            <a:br>
              <a:rPr lang="en-US" sz="1800" b="0" i="0" u="none" strike="noStrike" cap="none" dirty="0">
                <a:solidFill>
                  <a:schemeClr val="dk1"/>
                </a:solidFill>
                <a:latin typeface="Calibri"/>
                <a:ea typeface="Calibri"/>
                <a:cs typeface="Calibri"/>
                <a:sym typeface="Calibri"/>
              </a:rPr>
            </a:br>
            <a:r>
              <a:rPr lang="en-US" sz="1500" b="1" i="0" u="none" strike="noStrike" cap="none" dirty="0">
                <a:solidFill>
                  <a:srgbClr val="1E293B"/>
                </a:solidFill>
                <a:latin typeface="Roboto"/>
                <a:ea typeface="Roboto"/>
                <a:cs typeface="Roboto"/>
                <a:sym typeface="Roboto"/>
              </a:rPr>
              <a:t> </a:t>
            </a:r>
            <a:r>
              <a:rPr lang="en-US" sz="1500" b="1" i="0" u="none" strike="noStrike" cap="none" dirty="0" err="1">
                <a:solidFill>
                  <a:srgbClr val="1E293B"/>
                </a:solidFill>
                <a:latin typeface="Roboto"/>
                <a:ea typeface="Roboto"/>
                <a:cs typeface="Roboto"/>
                <a:sym typeface="Roboto"/>
              </a:rPr>
              <a:t>Abhijeet</a:t>
            </a:r>
            <a:r>
              <a:rPr lang="en-US" sz="1500" b="1" i="0" u="none" strike="noStrike" cap="none" dirty="0">
                <a:solidFill>
                  <a:srgbClr val="1E293B"/>
                </a:solidFill>
                <a:latin typeface="Roboto"/>
                <a:ea typeface="Roboto"/>
                <a:cs typeface="Roboto"/>
                <a:sym typeface="Roboto"/>
              </a:rPr>
              <a:t> </a:t>
            </a:r>
            <a:r>
              <a:rPr lang="en-US" sz="1500" b="1" i="0" u="none" strike="noStrike" cap="none" dirty="0" err="1">
                <a:solidFill>
                  <a:srgbClr val="1E293B"/>
                </a:solidFill>
                <a:latin typeface="Roboto"/>
                <a:ea typeface="Roboto"/>
                <a:cs typeface="Roboto"/>
                <a:sym typeface="Roboto"/>
              </a:rPr>
              <a:t>Biranalli</a:t>
            </a:r>
            <a:endParaRPr/>
          </a:p>
        </p:txBody>
      </p:sp>
      <p:pic>
        <p:nvPicPr>
          <p:cNvPr id="95" name="Google Shape;95;p13" descr="image.png"/>
          <p:cNvPicPr preferRelativeResize="0"/>
          <p:nvPr/>
        </p:nvPicPr>
        <p:blipFill rotWithShape="1">
          <a:blip r:embed="rId7">
            <a:alphaModFix/>
          </a:blip>
          <a:srcRect/>
          <a:stretch/>
        </p:blipFill>
        <p:spPr>
          <a:xfrm>
            <a:off x="1514475" y="4484191"/>
            <a:ext cx="195262" cy="152400"/>
          </a:xfrm>
          <a:prstGeom prst="rect">
            <a:avLst/>
          </a:prstGeom>
          <a:noFill/>
          <a:ln>
            <a:noFill/>
          </a:ln>
        </p:spPr>
      </p:pic>
      <p:pic>
        <p:nvPicPr>
          <p:cNvPr id="96" name="Google Shape;96;p13" descr="image.png"/>
          <p:cNvPicPr preferRelativeResize="0"/>
          <p:nvPr/>
        </p:nvPicPr>
        <p:blipFill rotWithShape="1">
          <a:blip r:embed="rId8">
            <a:alphaModFix/>
          </a:blip>
          <a:srcRect/>
          <a:stretch/>
        </p:blipFill>
        <p:spPr>
          <a:xfrm>
            <a:off x="8639175" y="4484191"/>
            <a:ext cx="195262" cy="152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0"/>
        <p:cNvGrpSpPr/>
        <p:nvPr/>
      </p:nvGrpSpPr>
      <p:grpSpPr>
        <a:xfrm>
          <a:off x="0" y="0"/>
          <a:ext cx="0" cy="0"/>
          <a:chOff x="0" y="0"/>
          <a:chExt cx="0" cy="0"/>
        </a:xfrm>
      </p:grpSpPr>
      <p:pic>
        <p:nvPicPr>
          <p:cNvPr id="101" name="Google Shape;101;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2" name="Google Shape;102;p14" descr="image.png"/>
          <p:cNvPicPr preferRelativeResize="0"/>
          <p:nvPr/>
        </p:nvPicPr>
        <p:blipFill rotWithShape="1">
          <a:blip r:embed="rId4">
            <a:alphaModFix/>
          </a:blip>
          <a:srcRect/>
          <a:stretch/>
        </p:blipFill>
        <p:spPr>
          <a:xfrm>
            <a:off x="571500" y="6343650"/>
            <a:ext cx="11049000" cy="323850"/>
          </a:xfrm>
          <a:prstGeom prst="rect">
            <a:avLst/>
          </a:prstGeom>
          <a:noFill/>
          <a:ln>
            <a:noFill/>
          </a:ln>
        </p:spPr>
      </p:pic>
      <p:pic>
        <p:nvPicPr>
          <p:cNvPr id="103" name="Google Shape;103;p14" descr="image.png"/>
          <p:cNvPicPr preferRelativeResize="0"/>
          <p:nvPr/>
        </p:nvPicPr>
        <p:blipFill rotWithShape="1">
          <a:blip r:embed="rId5">
            <a:alphaModFix/>
          </a:blip>
          <a:srcRect/>
          <a:stretch/>
        </p:blipFill>
        <p:spPr>
          <a:xfrm>
            <a:off x="6334125" y="2276475"/>
            <a:ext cx="5286375" cy="3810000"/>
          </a:xfrm>
          <a:prstGeom prst="rect">
            <a:avLst/>
          </a:prstGeom>
          <a:noFill/>
          <a:ln>
            <a:noFill/>
          </a:ln>
        </p:spPr>
      </p:pic>
      <p:sp>
        <p:nvSpPr>
          <p:cNvPr id="104" name="Google Shape;104;p14"/>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A4275"/>
                </a:solidFill>
                <a:latin typeface="Montserrat"/>
                <a:ea typeface="Montserrat"/>
                <a:cs typeface="Montserrat"/>
                <a:sym typeface="Montserrat"/>
              </a:rPr>
              <a:t>Abstract</a:t>
            </a:r>
            <a:endParaRPr/>
          </a:p>
        </p:txBody>
      </p:sp>
      <p:sp>
        <p:nvSpPr>
          <p:cNvPr id="105" name="Google Shape;105;p14"/>
          <p:cNvSpPr/>
          <p:nvPr/>
        </p:nvSpPr>
        <p:spPr>
          <a:xfrm>
            <a:off x="571500" y="1066800"/>
            <a:ext cx="11049000" cy="28575"/>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4"/>
          <p:cNvSpPr txBox="1"/>
          <p:nvPr/>
        </p:nvSpPr>
        <p:spPr>
          <a:xfrm>
            <a:off x="571500" y="6496050"/>
            <a:ext cx="27336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PDA College of Engineering | AI &amp; ML Dept</a:t>
            </a:r>
            <a:endParaRPr/>
          </a:p>
        </p:txBody>
      </p:sp>
      <p:sp>
        <p:nvSpPr>
          <p:cNvPr id="107" name="Google Shape;107;p14"/>
          <p:cNvSpPr txBox="1"/>
          <p:nvPr/>
        </p:nvSpPr>
        <p:spPr>
          <a:xfrm>
            <a:off x="11182350" y="6496050"/>
            <a:ext cx="4381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Slide 2</a:t>
            </a:r>
            <a:endParaRPr/>
          </a:p>
        </p:txBody>
      </p:sp>
      <p:pic>
        <p:nvPicPr>
          <p:cNvPr id="108" name="Google Shape;108;p14" descr="image.png"/>
          <p:cNvPicPr preferRelativeResize="0"/>
          <p:nvPr/>
        </p:nvPicPr>
        <p:blipFill rotWithShape="1">
          <a:blip r:embed="rId6">
            <a:alphaModFix/>
          </a:blip>
          <a:srcRect/>
          <a:stretch/>
        </p:blipFill>
        <p:spPr>
          <a:xfrm>
            <a:off x="7554639" y="1723698"/>
            <a:ext cx="3846786" cy="3952874"/>
          </a:xfrm>
          <a:prstGeom prst="rect">
            <a:avLst/>
          </a:prstGeom>
          <a:noFill/>
          <a:ln>
            <a:noFill/>
          </a:ln>
        </p:spPr>
      </p:pic>
      <p:sp>
        <p:nvSpPr>
          <p:cNvPr id="118" name="Google Shape;118;p14"/>
          <p:cNvSpPr/>
          <p:nvPr/>
        </p:nvSpPr>
        <p:spPr>
          <a:xfrm>
            <a:off x="329763" y="1530241"/>
            <a:ext cx="6995948" cy="4040242"/>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lvl="0" algn="ctr"/>
            <a:endParaRPr lang="en-US" sz="1800" dirty="0">
              <a:solidFill>
                <a:schemeClr val="dk1"/>
              </a:solidFill>
              <a:latin typeface="Calibri"/>
              <a:ea typeface="Calibri"/>
              <a:cs typeface="Calibri"/>
              <a:sym typeface="Calibri"/>
            </a:endParaRPr>
          </a:p>
          <a:p>
            <a:pPr lvl="0" algn="ctr"/>
            <a:r>
              <a:rPr lang="en-US" sz="1650" dirty="0">
                <a:solidFill>
                  <a:srgbClr val="334155"/>
                </a:solidFill>
                <a:latin typeface="Roboto"/>
                <a:ea typeface="Roboto"/>
                <a:cs typeface="Roboto"/>
                <a:sym typeface="Calibri"/>
              </a:rPr>
              <a:t>The Smart Appliance Energy Monitor using Non-Intrusive Load Monitoring (NILM) is a prototype-based energy management system that analyzes aggregated household power consumption data to identify individual appliance usage without requiring separate sensors. </a:t>
            </a:r>
            <a:r>
              <a:rPr lang="en-US" sz="1650" dirty="0">
                <a:solidFill>
                  <a:srgbClr val="334155"/>
                </a:solidFill>
                <a:latin typeface="Roboto"/>
                <a:ea typeface="Roboto"/>
                <a:cs typeface="Roboto"/>
                <a:sym typeface="Calibri"/>
              </a:rPr>
              <a:t>Using publicly available datasets and machine learning frameworks such as </a:t>
            </a:r>
            <a:r>
              <a:rPr lang="en-US" sz="1650" dirty="0" smtClean="0">
                <a:solidFill>
                  <a:srgbClr val="334155"/>
                </a:solidFill>
                <a:latin typeface="Roboto"/>
                <a:ea typeface="Roboto"/>
                <a:cs typeface="Roboto"/>
                <a:sym typeface="Calibri"/>
              </a:rPr>
              <a:t>Tensor Flow </a:t>
            </a:r>
            <a:r>
              <a:rPr lang="en-US" sz="1650" dirty="0">
                <a:solidFill>
                  <a:srgbClr val="334155"/>
                </a:solidFill>
                <a:latin typeface="Roboto"/>
                <a:ea typeface="Roboto"/>
                <a:cs typeface="Roboto"/>
                <a:sym typeface="Calibri"/>
              </a:rPr>
              <a:t>and </a:t>
            </a:r>
            <a:r>
              <a:rPr lang="en-US" sz="1650" dirty="0" err="1">
                <a:solidFill>
                  <a:srgbClr val="334155"/>
                </a:solidFill>
                <a:latin typeface="Roboto"/>
                <a:ea typeface="Roboto"/>
                <a:cs typeface="Roboto"/>
                <a:sym typeface="Calibri"/>
              </a:rPr>
              <a:t>Keras</a:t>
            </a:r>
            <a:r>
              <a:rPr lang="en-US" sz="1650" dirty="0">
                <a:solidFill>
                  <a:srgbClr val="334155"/>
                </a:solidFill>
                <a:latin typeface="Roboto"/>
                <a:ea typeface="Roboto"/>
                <a:cs typeface="Roboto"/>
                <a:sym typeface="Calibri"/>
              </a:rPr>
              <a:t>, the system classifies common appliances based on their power consumption patterns. An interactive dashboard visualizes energy usage trends, helping users understand and optimize electricity consumption. This prototype demonstrates the application of Artificial Intelligence and Machine Learning in smart energy management, offering a cost-effective and scalable approach to promoting energy efficiency and sustainable electricity usage.</a:t>
            </a:r>
            <a:endParaRPr sz="1650" dirty="0">
              <a:solidFill>
                <a:srgbClr val="334155"/>
              </a:solidFill>
              <a:latin typeface="Roboto"/>
              <a:ea typeface="Roboto"/>
              <a:cs typeface="Roboto"/>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2"/>
        <p:cNvGrpSpPr/>
        <p:nvPr/>
      </p:nvGrpSpPr>
      <p:grpSpPr>
        <a:xfrm>
          <a:off x="0" y="0"/>
          <a:ext cx="0" cy="0"/>
          <a:chOff x="0" y="0"/>
          <a:chExt cx="0" cy="0"/>
        </a:xfrm>
      </p:grpSpPr>
      <p:pic>
        <p:nvPicPr>
          <p:cNvPr id="133" name="Google Shape;133;p15" descr="image.png"/>
          <p:cNvPicPr preferRelativeResize="0"/>
          <p:nvPr/>
        </p:nvPicPr>
        <p:blipFill rotWithShape="1">
          <a:blip r:embed="rId3">
            <a:alphaModFix/>
          </a:blip>
          <a:srcRect/>
          <a:stretch/>
        </p:blipFill>
        <p:spPr>
          <a:xfrm>
            <a:off x="0" y="-13466"/>
            <a:ext cx="12192000" cy="6858000"/>
          </a:xfrm>
          <a:prstGeom prst="rect">
            <a:avLst/>
          </a:prstGeom>
          <a:noFill/>
          <a:ln>
            <a:noFill/>
          </a:ln>
        </p:spPr>
      </p:pic>
      <p:pic>
        <p:nvPicPr>
          <p:cNvPr id="134" name="Google Shape;134;p15" descr="image.png"/>
          <p:cNvPicPr preferRelativeResize="0"/>
          <p:nvPr/>
        </p:nvPicPr>
        <p:blipFill rotWithShape="1">
          <a:blip r:embed="rId4">
            <a:alphaModFix/>
          </a:blip>
          <a:srcRect/>
          <a:stretch/>
        </p:blipFill>
        <p:spPr>
          <a:xfrm>
            <a:off x="571500" y="6343650"/>
            <a:ext cx="11049000" cy="323850"/>
          </a:xfrm>
          <a:prstGeom prst="rect">
            <a:avLst/>
          </a:prstGeom>
          <a:noFill/>
          <a:ln>
            <a:noFill/>
          </a:ln>
        </p:spPr>
      </p:pic>
      <p:pic>
        <p:nvPicPr>
          <p:cNvPr id="135" name="Google Shape;135;p15" descr="image.png"/>
          <p:cNvPicPr preferRelativeResize="0"/>
          <p:nvPr/>
        </p:nvPicPr>
        <p:blipFill rotWithShape="1">
          <a:blip r:embed="rId5">
            <a:alphaModFix/>
          </a:blip>
          <a:srcRect/>
          <a:stretch/>
        </p:blipFill>
        <p:spPr>
          <a:xfrm>
            <a:off x="6334125" y="2276475"/>
            <a:ext cx="5286375" cy="3810000"/>
          </a:xfrm>
          <a:prstGeom prst="rect">
            <a:avLst/>
          </a:prstGeom>
          <a:noFill/>
          <a:ln>
            <a:noFill/>
          </a:ln>
        </p:spPr>
      </p:pic>
      <p:sp>
        <p:nvSpPr>
          <p:cNvPr id="136" name="Google Shape;136;p15"/>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A4275"/>
                </a:solidFill>
                <a:latin typeface="Montserrat"/>
                <a:ea typeface="Montserrat"/>
                <a:cs typeface="Montserrat"/>
                <a:sym typeface="Montserrat"/>
              </a:rPr>
              <a:t>Introduction</a:t>
            </a:r>
            <a:endParaRPr/>
          </a:p>
        </p:txBody>
      </p:sp>
      <p:sp>
        <p:nvSpPr>
          <p:cNvPr id="137" name="Google Shape;137;p15"/>
          <p:cNvSpPr/>
          <p:nvPr/>
        </p:nvSpPr>
        <p:spPr>
          <a:xfrm>
            <a:off x="571500" y="1066800"/>
            <a:ext cx="11049000" cy="28575"/>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15"/>
          <p:cNvSpPr txBox="1"/>
          <p:nvPr/>
        </p:nvSpPr>
        <p:spPr>
          <a:xfrm>
            <a:off x="571500" y="6496050"/>
            <a:ext cx="27336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PDA College of Engineering | AI &amp; ML Dept</a:t>
            </a:r>
            <a:endParaRPr/>
          </a:p>
        </p:txBody>
      </p:sp>
      <p:sp>
        <p:nvSpPr>
          <p:cNvPr id="139" name="Google Shape;139;p15"/>
          <p:cNvSpPr txBox="1"/>
          <p:nvPr/>
        </p:nvSpPr>
        <p:spPr>
          <a:xfrm>
            <a:off x="11182350" y="6496050"/>
            <a:ext cx="4381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Slide 3</a:t>
            </a:r>
            <a:endParaRPr/>
          </a:p>
        </p:txBody>
      </p:sp>
      <p:pic>
        <p:nvPicPr>
          <p:cNvPr id="140" name="Google Shape;140;p15" descr="image.png"/>
          <p:cNvPicPr preferRelativeResize="0"/>
          <p:nvPr/>
        </p:nvPicPr>
        <p:blipFill rotWithShape="1">
          <a:blip r:embed="rId6">
            <a:alphaModFix/>
          </a:blip>
          <a:srcRect/>
          <a:stretch/>
        </p:blipFill>
        <p:spPr>
          <a:xfrm>
            <a:off x="6372225" y="2314575"/>
            <a:ext cx="5210175" cy="3733800"/>
          </a:xfrm>
          <a:prstGeom prst="rect">
            <a:avLst/>
          </a:prstGeom>
          <a:noFill/>
          <a:ln>
            <a:noFill/>
          </a:ln>
        </p:spPr>
      </p:pic>
      <p:sp>
        <p:nvSpPr>
          <p:cNvPr id="141" name="Google Shape;141;p15"/>
          <p:cNvSpPr/>
          <p:nvPr/>
        </p:nvSpPr>
        <p:spPr>
          <a:xfrm>
            <a:off x="571500" y="147637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15"/>
          <p:cNvSpPr txBox="1"/>
          <p:nvPr/>
        </p:nvSpPr>
        <p:spPr>
          <a:xfrm>
            <a:off x="1104900" y="1619250"/>
            <a:ext cx="456247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dirty="0">
                <a:solidFill>
                  <a:srgbClr val="334155"/>
                </a:solidFill>
                <a:latin typeface="Roboto"/>
                <a:ea typeface="Roboto"/>
                <a:cs typeface="Roboto"/>
                <a:sym typeface="Roboto"/>
              </a:rPr>
              <a:t>Increasing use of electrical appliances has surged energy consumption.</a:t>
            </a:r>
            <a:endParaRPr dirty="0"/>
          </a:p>
        </p:txBody>
      </p:sp>
      <p:sp>
        <p:nvSpPr>
          <p:cNvPr id="143" name="Google Shape;143;p15"/>
          <p:cNvSpPr/>
          <p:nvPr/>
        </p:nvSpPr>
        <p:spPr>
          <a:xfrm>
            <a:off x="571500" y="147637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4" name="Google Shape;144;p15"/>
          <p:cNvSpPr/>
          <p:nvPr/>
        </p:nvSpPr>
        <p:spPr>
          <a:xfrm>
            <a:off x="571500" y="260032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5" name="Google Shape;145;p15"/>
          <p:cNvSpPr txBox="1"/>
          <p:nvPr/>
        </p:nvSpPr>
        <p:spPr>
          <a:xfrm>
            <a:off x="1133475" y="2743200"/>
            <a:ext cx="453390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Roboto"/>
                <a:ea typeface="Roboto"/>
                <a:cs typeface="Roboto"/>
                <a:sym typeface="Roboto"/>
              </a:rPr>
              <a:t>Monitoring electricity usage directly helps reduce wastage and cost.</a:t>
            </a:r>
            <a:endParaRPr/>
          </a:p>
        </p:txBody>
      </p:sp>
      <p:sp>
        <p:nvSpPr>
          <p:cNvPr id="146" name="Google Shape;146;p15"/>
          <p:cNvSpPr/>
          <p:nvPr/>
        </p:nvSpPr>
        <p:spPr>
          <a:xfrm>
            <a:off x="571500" y="260032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7" name="Google Shape;147;p15"/>
          <p:cNvSpPr/>
          <p:nvPr/>
        </p:nvSpPr>
        <p:spPr>
          <a:xfrm>
            <a:off x="571500" y="372427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5"/>
          <p:cNvSpPr txBox="1"/>
          <p:nvPr/>
        </p:nvSpPr>
        <p:spPr>
          <a:xfrm>
            <a:off x="1133475" y="3867150"/>
            <a:ext cx="453390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Roboto"/>
                <a:ea typeface="Roboto"/>
                <a:cs typeface="Roboto"/>
                <a:sym typeface="Roboto"/>
              </a:rPr>
              <a:t>Traditional methods require expensive separate sensors for every device.</a:t>
            </a:r>
            <a:endParaRPr/>
          </a:p>
        </p:txBody>
      </p:sp>
      <p:sp>
        <p:nvSpPr>
          <p:cNvPr id="149" name="Google Shape;149;p15"/>
          <p:cNvSpPr/>
          <p:nvPr/>
        </p:nvSpPr>
        <p:spPr>
          <a:xfrm>
            <a:off x="571500" y="372427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5"/>
          <p:cNvSpPr/>
          <p:nvPr/>
        </p:nvSpPr>
        <p:spPr>
          <a:xfrm>
            <a:off x="571500" y="484822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p15"/>
          <p:cNvSpPr txBox="1"/>
          <p:nvPr/>
        </p:nvSpPr>
        <p:spPr>
          <a:xfrm>
            <a:off x="1162050" y="4991100"/>
            <a:ext cx="450532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Roboto"/>
                <a:ea typeface="Roboto"/>
                <a:cs typeface="Roboto"/>
                <a:sym typeface="Roboto"/>
              </a:rPr>
              <a:t>NILM provides appliance-level monitoring using aggregate power data.</a:t>
            </a:r>
            <a:endParaRPr/>
          </a:p>
        </p:txBody>
      </p:sp>
      <p:sp>
        <p:nvSpPr>
          <p:cNvPr id="152" name="Google Shape;152;p15"/>
          <p:cNvSpPr/>
          <p:nvPr/>
        </p:nvSpPr>
        <p:spPr>
          <a:xfrm>
            <a:off x="571500" y="484822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15"/>
          <p:cNvSpPr/>
          <p:nvPr/>
        </p:nvSpPr>
        <p:spPr>
          <a:xfrm>
            <a:off x="6372225" y="1314450"/>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5"/>
          <p:cNvSpPr txBox="1"/>
          <p:nvPr/>
        </p:nvSpPr>
        <p:spPr>
          <a:xfrm>
            <a:off x="6777037" y="1484915"/>
            <a:ext cx="447675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dirty="0">
                <a:solidFill>
                  <a:srgbClr val="334155"/>
                </a:solidFill>
                <a:latin typeface="Roboto"/>
                <a:ea typeface="Roboto"/>
                <a:cs typeface="Roboto"/>
                <a:sym typeface="Roboto"/>
              </a:rPr>
              <a:t>Machine learning enables intelligent analysis of power signatures.</a:t>
            </a:r>
            <a:endParaRPr dirty="0"/>
          </a:p>
        </p:txBody>
      </p:sp>
      <p:sp>
        <p:nvSpPr>
          <p:cNvPr id="155" name="Google Shape;155;p15"/>
          <p:cNvSpPr/>
          <p:nvPr/>
        </p:nvSpPr>
        <p:spPr>
          <a:xfrm>
            <a:off x="6296025" y="1373899"/>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6" name="Google Shape;156;p15" descr="image.png"/>
          <p:cNvPicPr preferRelativeResize="0"/>
          <p:nvPr/>
        </p:nvPicPr>
        <p:blipFill rotWithShape="1">
          <a:blip r:embed="rId7">
            <a:alphaModFix/>
          </a:blip>
          <a:srcRect/>
          <a:stretch/>
        </p:blipFill>
        <p:spPr>
          <a:xfrm>
            <a:off x="800100" y="1647825"/>
            <a:ext cx="200025" cy="247650"/>
          </a:xfrm>
          <a:prstGeom prst="rect">
            <a:avLst/>
          </a:prstGeom>
          <a:noFill/>
          <a:ln>
            <a:noFill/>
          </a:ln>
        </p:spPr>
      </p:pic>
      <p:pic>
        <p:nvPicPr>
          <p:cNvPr id="157" name="Google Shape;157;p15" descr="image.png"/>
          <p:cNvPicPr preferRelativeResize="0"/>
          <p:nvPr/>
        </p:nvPicPr>
        <p:blipFill rotWithShape="1">
          <a:blip r:embed="rId8">
            <a:alphaModFix/>
          </a:blip>
          <a:srcRect/>
          <a:stretch/>
        </p:blipFill>
        <p:spPr>
          <a:xfrm>
            <a:off x="800100" y="2771775"/>
            <a:ext cx="228600" cy="247650"/>
          </a:xfrm>
          <a:prstGeom prst="rect">
            <a:avLst/>
          </a:prstGeom>
          <a:noFill/>
          <a:ln>
            <a:noFill/>
          </a:ln>
        </p:spPr>
      </p:pic>
      <p:pic>
        <p:nvPicPr>
          <p:cNvPr id="158" name="Google Shape;158;p15" descr="image.png"/>
          <p:cNvPicPr preferRelativeResize="0"/>
          <p:nvPr/>
        </p:nvPicPr>
        <p:blipFill rotWithShape="1">
          <a:blip r:embed="rId9">
            <a:alphaModFix/>
          </a:blip>
          <a:srcRect/>
          <a:stretch/>
        </p:blipFill>
        <p:spPr>
          <a:xfrm>
            <a:off x="800100" y="3895725"/>
            <a:ext cx="228600" cy="247650"/>
          </a:xfrm>
          <a:prstGeom prst="rect">
            <a:avLst/>
          </a:prstGeom>
          <a:noFill/>
          <a:ln>
            <a:noFill/>
          </a:ln>
        </p:spPr>
      </p:pic>
      <p:pic>
        <p:nvPicPr>
          <p:cNvPr id="159" name="Google Shape;159;p15" descr="image.png"/>
          <p:cNvPicPr preferRelativeResize="0"/>
          <p:nvPr/>
        </p:nvPicPr>
        <p:blipFill rotWithShape="1">
          <a:blip r:embed="rId10">
            <a:alphaModFix/>
          </a:blip>
          <a:srcRect/>
          <a:stretch/>
        </p:blipFill>
        <p:spPr>
          <a:xfrm>
            <a:off x="800100" y="5019675"/>
            <a:ext cx="257175" cy="247650"/>
          </a:xfrm>
          <a:prstGeom prst="rect">
            <a:avLst/>
          </a:prstGeom>
          <a:noFill/>
          <a:ln>
            <a:noFill/>
          </a:ln>
        </p:spPr>
      </p:pic>
      <p:pic>
        <p:nvPicPr>
          <p:cNvPr id="160" name="Google Shape;160;p15" descr="image.png"/>
          <p:cNvPicPr preferRelativeResize="0"/>
          <p:nvPr/>
        </p:nvPicPr>
        <p:blipFill rotWithShape="1">
          <a:blip r:embed="rId11">
            <a:alphaModFix/>
          </a:blip>
          <a:srcRect/>
          <a:stretch/>
        </p:blipFill>
        <p:spPr>
          <a:xfrm>
            <a:off x="6372225" y="1647825"/>
            <a:ext cx="285750" cy="304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
        <p:cNvGrpSpPr/>
        <p:nvPr/>
      </p:nvGrpSpPr>
      <p:grpSpPr>
        <a:xfrm>
          <a:off x="0" y="0"/>
          <a:ext cx="0" cy="0"/>
          <a:chOff x="0" y="0"/>
          <a:chExt cx="0" cy="0"/>
        </a:xfrm>
      </p:grpSpPr>
      <p:pic>
        <p:nvPicPr>
          <p:cNvPr id="165" name="Google Shape;165;p16" descr="image.png"/>
          <p:cNvPicPr preferRelativeResize="0"/>
          <p:nvPr/>
        </p:nvPicPr>
        <p:blipFill rotWithShape="1">
          <a:blip r:embed="rId3">
            <a:alphaModFix/>
          </a:blip>
          <a:srcRect/>
          <a:stretch/>
        </p:blipFill>
        <p:spPr>
          <a:xfrm>
            <a:off x="0" y="-114300"/>
            <a:ext cx="12192000" cy="6858000"/>
          </a:xfrm>
          <a:prstGeom prst="rect">
            <a:avLst/>
          </a:prstGeom>
          <a:noFill/>
          <a:ln>
            <a:noFill/>
          </a:ln>
        </p:spPr>
      </p:pic>
      <p:pic>
        <p:nvPicPr>
          <p:cNvPr id="166" name="Google Shape;166;p16" descr="image.png"/>
          <p:cNvPicPr preferRelativeResize="0"/>
          <p:nvPr/>
        </p:nvPicPr>
        <p:blipFill rotWithShape="1">
          <a:blip r:embed="rId4">
            <a:alphaModFix/>
          </a:blip>
          <a:srcRect/>
          <a:stretch/>
        </p:blipFill>
        <p:spPr>
          <a:xfrm>
            <a:off x="571500" y="6343650"/>
            <a:ext cx="11049000" cy="323850"/>
          </a:xfrm>
          <a:prstGeom prst="rect">
            <a:avLst/>
          </a:prstGeom>
          <a:noFill/>
          <a:ln>
            <a:noFill/>
          </a:ln>
        </p:spPr>
      </p:pic>
      <p:pic>
        <p:nvPicPr>
          <p:cNvPr id="167" name="Google Shape;167;p16" descr="image.png"/>
          <p:cNvPicPr preferRelativeResize="0"/>
          <p:nvPr/>
        </p:nvPicPr>
        <p:blipFill rotWithShape="1">
          <a:blip r:embed="rId5">
            <a:alphaModFix/>
          </a:blip>
          <a:srcRect/>
          <a:stretch/>
        </p:blipFill>
        <p:spPr>
          <a:xfrm>
            <a:off x="6334125" y="2276475"/>
            <a:ext cx="5286375" cy="3810000"/>
          </a:xfrm>
          <a:prstGeom prst="rect">
            <a:avLst/>
          </a:prstGeom>
          <a:noFill/>
          <a:ln>
            <a:noFill/>
          </a:ln>
        </p:spPr>
      </p:pic>
      <p:sp>
        <p:nvSpPr>
          <p:cNvPr id="168" name="Google Shape;168;p16"/>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A4275"/>
                </a:solidFill>
                <a:latin typeface="Montserrat"/>
                <a:ea typeface="Montserrat"/>
                <a:cs typeface="Montserrat"/>
                <a:sym typeface="Montserrat"/>
              </a:rPr>
              <a:t>Problem Statement</a:t>
            </a:r>
            <a:endParaRPr/>
          </a:p>
        </p:txBody>
      </p:sp>
      <p:sp>
        <p:nvSpPr>
          <p:cNvPr id="169" name="Google Shape;169;p16"/>
          <p:cNvSpPr/>
          <p:nvPr/>
        </p:nvSpPr>
        <p:spPr>
          <a:xfrm>
            <a:off x="571500" y="1066800"/>
            <a:ext cx="11049000" cy="28575"/>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16"/>
          <p:cNvSpPr txBox="1"/>
          <p:nvPr/>
        </p:nvSpPr>
        <p:spPr>
          <a:xfrm>
            <a:off x="571500" y="6496050"/>
            <a:ext cx="27336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PDA College of Engineering | AI &amp; ML Dept</a:t>
            </a:r>
            <a:endParaRPr/>
          </a:p>
        </p:txBody>
      </p:sp>
      <p:sp>
        <p:nvSpPr>
          <p:cNvPr id="171" name="Google Shape;171;p16"/>
          <p:cNvSpPr txBox="1"/>
          <p:nvPr/>
        </p:nvSpPr>
        <p:spPr>
          <a:xfrm>
            <a:off x="11182350" y="6496050"/>
            <a:ext cx="4381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Slide 4</a:t>
            </a:r>
            <a:endParaRPr/>
          </a:p>
        </p:txBody>
      </p:sp>
      <p:pic>
        <p:nvPicPr>
          <p:cNvPr id="172" name="Google Shape;172;p16" descr="image.png"/>
          <p:cNvPicPr preferRelativeResize="0"/>
          <p:nvPr/>
        </p:nvPicPr>
        <p:blipFill rotWithShape="1">
          <a:blip r:embed="rId6">
            <a:alphaModFix/>
          </a:blip>
          <a:srcRect/>
          <a:stretch/>
        </p:blipFill>
        <p:spPr>
          <a:xfrm>
            <a:off x="6372225" y="2314575"/>
            <a:ext cx="5210175" cy="3733800"/>
          </a:xfrm>
          <a:prstGeom prst="rect">
            <a:avLst/>
          </a:prstGeom>
          <a:noFill/>
          <a:ln>
            <a:noFill/>
          </a:ln>
        </p:spPr>
      </p:pic>
      <p:sp>
        <p:nvSpPr>
          <p:cNvPr id="173" name="Google Shape;173;p16"/>
          <p:cNvSpPr/>
          <p:nvPr/>
        </p:nvSpPr>
        <p:spPr>
          <a:xfrm>
            <a:off x="571500" y="147637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4" name="Google Shape;174;p16"/>
          <p:cNvSpPr txBox="1"/>
          <p:nvPr/>
        </p:nvSpPr>
        <p:spPr>
          <a:xfrm>
            <a:off x="1133475" y="1619250"/>
            <a:ext cx="453390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Roboto"/>
                <a:ea typeface="Roboto"/>
                <a:cs typeface="Roboto"/>
                <a:sym typeface="Roboto"/>
              </a:rPr>
              <a:t>Users only receive total electricity consumption information.</a:t>
            </a:r>
            <a:endParaRPr/>
          </a:p>
        </p:txBody>
      </p:sp>
      <p:sp>
        <p:nvSpPr>
          <p:cNvPr id="175" name="Google Shape;175;p16"/>
          <p:cNvSpPr/>
          <p:nvPr/>
        </p:nvSpPr>
        <p:spPr>
          <a:xfrm>
            <a:off x="571500" y="147637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6" name="Google Shape;176;p16"/>
          <p:cNvSpPr/>
          <p:nvPr/>
        </p:nvSpPr>
        <p:spPr>
          <a:xfrm>
            <a:off x="571500" y="260032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16"/>
          <p:cNvSpPr txBox="1"/>
          <p:nvPr/>
        </p:nvSpPr>
        <p:spPr>
          <a:xfrm>
            <a:off x="1133475" y="2743200"/>
            <a:ext cx="453390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Roboto"/>
                <a:ea typeface="Roboto"/>
                <a:cs typeface="Roboto"/>
                <a:sym typeface="Roboto"/>
              </a:rPr>
              <a:t>Existing monitoring systems are highly expensive and complex.</a:t>
            </a:r>
            <a:endParaRPr/>
          </a:p>
        </p:txBody>
      </p:sp>
      <p:sp>
        <p:nvSpPr>
          <p:cNvPr id="178" name="Google Shape;178;p16"/>
          <p:cNvSpPr/>
          <p:nvPr/>
        </p:nvSpPr>
        <p:spPr>
          <a:xfrm>
            <a:off x="571500" y="260032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9" name="Google Shape;179;p16"/>
          <p:cNvSpPr/>
          <p:nvPr/>
        </p:nvSpPr>
        <p:spPr>
          <a:xfrm>
            <a:off x="571500" y="372427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0" name="Google Shape;180;p16"/>
          <p:cNvSpPr txBox="1"/>
          <p:nvPr/>
        </p:nvSpPr>
        <p:spPr>
          <a:xfrm>
            <a:off x="1162050" y="3867150"/>
            <a:ext cx="450532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Roboto"/>
                <a:ea typeface="Roboto"/>
                <a:cs typeface="Roboto"/>
                <a:sym typeface="Roboto"/>
              </a:rPr>
              <a:t>Installing multiple sensors significantly increases hardware cost.</a:t>
            </a:r>
            <a:endParaRPr/>
          </a:p>
        </p:txBody>
      </p:sp>
      <p:sp>
        <p:nvSpPr>
          <p:cNvPr id="181" name="Google Shape;181;p16"/>
          <p:cNvSpPr/>
          <p:nvPr/>
        </p:nvSpPr>
        <p:spPr>
          <a:xfrm>
            <a:off x="571500" y="372427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16"/>
          <p:cNvSpPr/>
          <p:nvPr/>
        </p:nvSpPr>
        <p:spPr>
          <a:xfrm>
            <a:off x="571500" y="484822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16"/>
          <p:cNvSpPr txBox="1"/>
          <p:nvPr/>
        </p:nvSpPr>
        <p:spPr>
          <a:xfrm>
            <a:off x="1162050" y="4991100"/>
            <a:ext cx="450532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Roboto"/>
                <a:ea typeface="Roboto"/>
                <a:cs typeface="Roboto"/>
                <a:sym typeface="Roboto"/>
              </a:rPr>
              <a:t>Lack of appliance-wise information directly causes energy wastage.</a:t>
            </a:r>
            <a:endParaRPr/>
          </a:p>
        </p:txBody>
      </p:sp>
      <p:sp>
        <p:nvSpPr>
          <p:cNvPr id="184" name="Google Shape;184;p16"/>
          <p:cNvSpPr/>
          <p:nvPr/>
        </p:nvSpPr>
        <p:spPr>
          <a:xfrm>
            <a:off x="571500" y="484822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6"/>
          <p:cNvSpPr/>
          <p:nvPr/>
        </p:nvSpPr>
        <p:spPr>
          <a:xfrm>
            <a:off x="6296025" y="119062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6"/>
          <p:cNvSpPr txBox="1"/>
          <p:nvPr/>
        </p:nvSpPr>
        <p:spPr>
          <a:xfrm>
            <a:off x="6810375" y="1333500"/>
            <a:ext cx="459105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dirty="0">
                <a:solidFill>
                  <a:srgbClr val="334155"/>
                </a:solidFill>
                <a:latin typeface="Roboto"/>
                <a:ea typeface="Roboto"/>
                <a:cs typeface="Roboto"/>
                <a:sym typeface="Roboto"/>
              </a:rPr>
              <a:t>Critical need for a smart, unified, and cost-effective solution.</a:t>
            </a:r>
            <a:endParaRPr dirty="0"/>
          </a:p>
        </p:txBody>
      </p:sp>
      <p:sp>
        <p:nvSpPr>
          <p:cNvPr id="187" name="Google Shape;187;p16"/>
          <p:cNvSpPr/>
          <p:nvPr/>
        </p:nvSpPr>
        <p:spPr>
          <a:xfrm>
            <a:off x="6268107" y="1305582"/>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8" name="Google Shape;188;p16" descr="image.png"/>
          <p:cNvPicPr preferRelativeResize="0"/>
          <p:nvPr/>
        </p:nvPicPr>
        <p:blipFill rotWithShape="1">
          <a:blip r:embed="rId7">
            <a:alphaModFix/>
          </a:blip>
          <a:srcRect/>
          <a:stretch/>
        </p:blipFill>
        <p:spPr>
          <a:xfrm>
            <a:off x="800100" y="1647825"/>
            <a:ext cx="228600" cy="247650"/>
          </a:xfrm>
          <a:prstGeom prst="rect">
            <a:avLst/>
          </a:prstGeom>
          <a:noFill/>
          <a:ln>
            <a:noFill/>
          </a:ln>
        </p:spPr>
      </p:pic>
      <p:pic>
        <p:nvPicPr>
          <p:cNvPr id="189" name="Google Shape;189;p16" descr="image.png"/>
          <p:cNvPicPr preferRelativeResize="0"/>
          <p:nvPr/>
        </p:nvPicPr>
        <p:blipFill rotWithShape="1">
          <a:blip r:embed="rId8">
            <a:alphaModFix/>
          </a:blip>
          <a:srcRect/>
          <a:stretch/>
        </p:blipFill>
        <p:spPr>
          <a:xfrm>
            <a:off x="800100" y="2771775"/>
            <a:ext cx="228600" cy="247650"/>
          </a:xfrm>
          <a:prstGeom prst="rect">
            <a:avLst/>
          </a:prstGeom>
          <a:noFill/>
          <a:ln>
            <a:noFill/>
          </a:ln>
        </p:spPr>
      </p:pic>
      <p:pic>
        <p:nvPicPr>
          <p:cNvPr id="190" name="Google Shape;190;p16" descr="image.png"/>
          <p:cNvPicPr preferRelativeResize="0"/>
          <p:nvPr/>
        </p:nvPicPr>
        <p:blipFill rotWithShape="1">
          <a:blip r:embed="rId9">
            <a:alphaModFix/>
          </a:blip>
          <a:srcRect/>
          <a:stretch/>
        </p:blipFill>
        <p:spPr>
          <a:xfrm>
            <a:off x="800100" y="3895725"/>
            <a:ext cx="257175" cy="247650"/>
          </a:xfrm>
          <a:prstGeom prst="rect">
            <a:avLst/>
          </a:prstGeom>
          <a:noFill/>
          <a:ln>
            <a:noFill/>
          </a:ln>
        </p:spPr>
      </p:pic>
      <p:pic>
        <p:nvPicPr>
          <p:cNvPr id="191" name="Google Shape;191;p16" descr="image.png"/>
          <p:cNvPicPr preferRelativeResize="0"/>
          <p:nvPr/>
        </p:nvPicPr>
        <p:blipFill rotWithShape="1">
          <a:blip r:embed="rId10">
            <a:alphaModFix/>
          </a:blip>
          <a:srcRect/>
          <a:stretch/>
        </p:blipFill>
        <p:spPr>
          <a:xfrm>
            <a:off x="800100" y="5019675"/>
            <a:ext cx="257175" cy="247650"/>
          </a:xfrm>
          <a:prstGeom prst="rect">
            <a:avLst/>
          </a:prstGeom>
          <a:noFill/>
          <a:ln>
            <a:noFill/>
          </a:ln>
        </p:spPr>
      </p:pic>
      <p:pic>
        <p:nvPicPr>
          <p:cNvPr id="192" name="Google Shape;192;p16" descr="image.png"/>
          <p:cNvPicPr preferRelativeResize="0"/>
          <p:nvPr/>
        </p:nvPicPr>
        <p:blipFill rotWithShape="1">
          <a:blip r:embed="rId11">
            <a:alphaModFix/>
          </a:blip>
          <a:srcRect/>
          <a:stretch/>
        </p:blipFill>
        <p:spPr>
          <a:xfrm>
            <a:off x="6501306" y="1524000"/>
            <a:ext cx="171450" cy="247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6"/>
        <p:cNvGrpSpPr/>
        <p:nvPr/>
      </p:nvGrpSpPr>
      <p:grpSpPr>
        <a:xfrm>
          <a:off x="0" y="0"/>
          <a:ext cx="0" cy="0"/>
          <a:chOff x="0" y="0"/>
          <a:chExt cx="0" cy="0"/>
        </a:xfrm>
      </p:grpSpPr>
      <p:pic>
        <p:nvPicPr>
          <p:cNvPr id="197" name="Google Shape;197;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8" name="Google Shape;198;p17" descr="image.png"/>
          <p:cNvPicPr preferRelativeResize="0"/>
          <p:nvPr/>
        </p:nvPicPr>
        <p:blipFill rotWithShape="1">
          <a:blip r:embed="rId4">
            <a:alphaModFix/>
          </a:blip>
          <a:srcRect/>
          <a:stretch/>
        </p:blipFill>
        <p:spPr>
          <a:xfrm>
            <a:off x="571500" y="6343650"/>
            <a:ext cx="11049000" cy="323850"/>
          </a:xfrm>
          <a:prstGeom prst="rect">
            <a:avLst/>
          </a:prstGeom>
          <a:noFill/>
          <a:ln>
            <a:noFill/>
          </a:ln>
        </p:spPr>
      </p:pic>
      <p:sp>
        <p:nvSpPr>
          <p:cNvPr id="199" name="Google Shape;199;p17"/>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A4275"/>
                </a:solidFill>
                <a:latin typeface="Montserrat"/>
                <a:ea typeface="Montserrat"/>
                <a:cs typeface="Montserrat"/>
                <a:sym typeface="Montserrat"/>
              </a:rPr>
              <a:t>Objectives</a:t>
            </a:r>
            <a:endParaRPr/>
          </a:p>
        </p:txBody>
      </p:sp>
      <p:sp>
        <p:nvSpPr>
          <p:cNvPr id="200" name="Google Shape;200;p17"/>
          <p:cNvSpPr/>
          <p:nvPr/>
        </p:nvSpPr>
        <p:spPr>
          <a:xfrm>
            <a:off x="571500" y="1066800"/>
            <a:ext cx="11049000" cy="28575"/>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1" name="Google Shape;201;p17"/>
          <p:cNvSpPr txBox="1"/>
          <p:nvPr/>
        </p:nvSpPr>
        <p:spPr>
          <a:xfrm>
            <a:off x="571500" y="6496050"/>
            <a:ext cx="27336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PDA College of Engineering | AI &amp; ML Dept</a:t>
            </a:r>
            <a:endParaRPr/>
          </a:p>
        </p:txBody>
      </p:sp>
      <p:sp>
        <p:nvSpPr>
          <p:cNvPr id="202" name="Google Shape;202;p17"/>
          <p:cNvSpPr txBox="1"/>
          <p:nvPr/>
        </p:nvSpPr>
        <p:spPr>
          <a:xfrm>
            <a:off x="11182350" y="6496050"/>
            <a:ext cx="4381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Slide 5</a:t>
            </a:r>
            <a:endParaRPr/>
          </a:p>
        </p:txBody>
      </p:sp>
      <p:sp>
        <p:nvSpPr>
          <p:cNvPr id="203" name="Google Shape;203;p17"/>
          <p:cNvSpPr/>
          <p:nvPr/>
        </p:nvSpPr>
        <p:spPr>
          <a:xfrm>
            <a:off x="571500" y="1947862"/>
            <a:ext cx="5405437" cy="1066800"/>
          </a:xfrm>
          <a:prstGeom prst="roundRect">
            <a:avLst>
              <a:gd name="adj" fmla="val 7142"/>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4" name="Google Shape;204;p17"/>
          <p:cNvSpPr txBox="1"/>
          <p:nvPr/>
        </p:nvSpPr>
        <p:spPr>
          <a:xfrm>
            <a:off x="1647825" y="2185987"/>
            <a:ext cx="4090987" cy="5905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75" b="0" i="0" u="none" strike="noStrike" cap="none">
                <a:solidFill>
                  <a:srgbClr val="1E293B"/>
                </a:solidFill>
                <a:latin typeface="Roboto Medium"/>
                <a:ea typeface="Roboto Medium"/>
                <a:cs typeface="Roboto Medium"/>
                <a:sym typeface="Roboto Medium"/>
              </a:rPr>
              <a:t>Monitor household energy consumption remotely.</a:t>
            </a:r>
            <a:endParaRPr/>
          </a:p>
        </p:txBody>
      </p:sp>
      <p:sp>
        <p:nvSpPr>
          <p:cNvPr id="205" name="Google Shape;205;p17"/>
          <p:cNvSpPr/>
          <p:nvPr/>
        </p:nvSpPr>
        <p:spPr>
          <a:xfrm>
            <a:off x="571500" y="3005137"/>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6" name="Google Shape;206;p17"/>
          <p:cNvSpPr/>
          <p:nvPr/>
        </p:nvSpPr>
        <p:spPr>
          <a:xfrm>
            <a:off x="571500" y="1947862"/>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17"/>
          <p:cNvSpPr/>
          <p:nvPr/>
        </p:nvSpPr>
        <p:spPr>
          <a:xfrm>
            <a:off x="571500" y="1947862"/>
            <a:ext cx="57150" cy="1066800"/>
          </a:xfrm>
          <a:prstGeom prst="rect">
            <a:avLst/>
          </a:prstGeom>
          <a:solidFill>
            <a:srgbClr val="0A42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17"/>
          <p:cNvSpPr/>
          <p:nvPr/>
        </p:nvSpPr>
        <p:spPr>
          <a:xfrm>
            <a:off x="5967412" y="1947862"/>
            <a:ext cx="9525" cy="10668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17"/>
          <p:cNvSpPr/>
          <p:nvPr/>
        </p:nvSpPr>
        <p:spPr>
          <a:xfrm>
            <a:off x="6215062" y="1947862"/>
            <a:ext cx="5405437" cy="1066800"/>
          </a:xfrm>
          <a:prstGeom prst="roundRect">
            <a:avLst>
              <a:gd name="adj" fmla="val 7142"/>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p17"/>
          <p:cNvSpPr txBox="1"/>
          <p:nvPr/>
        </p:nvSpPr>
        <p:spPr>
          <a:xfrm>
            <a:off x="7215187" y="2185987"/>
            <a:ext cx="4167187" cy="5905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75" b="0" i="0" u="none" strike="noStrike" cap="none">
                <a:solidFill>
                  <a:srgbClr val="1E293B"/>
                </a:solidFill>
                <a:latin typeface="Roboto Medium"/>
                <a:ea typeface="Roboto Medium"/>
                <a:cs typeface="Roboto Medium"/>
                <a:sym typeface="Roboto Medium"/>
              </a:rPr>
              <a:t>Analyze distinct appliance usage patterns.</a:t>
            </a:r>
            <a:endParaRPr/>
          </a:p>
        </p:txBody>
      </p:sp>
      <p:sp>
        <p:nvSpPr>
          <p:cNvPr id="211" name="Google Shape;211;p17"/>
          <p:cNvSpPr/>
          <p:nvPr/>
        </p:nvSpPr>
        <p:spPr>
          <a:xfrm>
            <a:off x="6215062" y="3005137"/>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2" name="Google Shape;212;p17"/>
          <p:cNvSpPr/>
          <p:nvPr/>
        </p:nvSpPr>
        <p:spPr>
          <a:xfrm>
            <a:off x="6215062" y="1947862"/>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17"/>
          <p:cNvSpPr/>
          <p:nvPr/>
        </p:nvSpPr>
        <p:spPr>
          <a:xfrm>
            <a:off x="6215062" y="1947862"/>
            <a:ext cx="57150" cy="1066800"/>
          </a:xfrm>
          <a:prstGeom prst="rect">
            <a:avLst/>
          </a:prstGeom>
          <a:solidFill>
            <a:srgbClr val="0A42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4" name="Google Shape;214;p17"/>
          <p:cNvSpPr/>
          <p:nvPr/>
        </p:nvSpPr>
        <p:spPr>
          <a:xfrm>
            <a:off x="11610975" y="1947862"/>
            <a:ext cx="9525" cy="10668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17"/>
          <p:cNvSpPr/>
          <p:nvPr/>
        </p:nvSpPr>
        <p:spPr>
          <a:xfrm>
            <a:off x="571500" y="3252787"/>
            <a:ext cx="5405437" cy="1066800"/>
          </a:xfrm>
          <a:prstGeom prst="roundRect">
            <a:avLst>
              <a:gd name="adj" fmla="val 7142"/>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17"/>
          <p:cNvSpPr txBox="1"/>
          <p:nvPr/>
        </p:nvSpPr>
        <p:spPr>
          <a:xfrm>
            <a:off x="1571625" y="3490912"/>
            <a:ext cx="4167187" cy="5905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75" b="0" i="0" u="none" strike="noStrike" cap="none">
                <a:solidFill>
                  <a:srgbClr val="1E293B"/>
                </a:solidFill>
                <a:latin typeface="Roboto Medium"/>
                <a:ea typeface="Roboto Medium"/>
                <a:cs typeface="Roboto Medium"/>
                <a:sym typeface="Roboto Medium"/>
              </a:rPr>
              <a:t>Perform efficient preprocessing and feature extraction.</a:t>
            </a:r>
            <a:endParaRPr/>
          </a:p>
        </p:txBody>
      </p:sp>
      <p:sp>
        <p:nvSpPr>
          <p:cNvPr id="217" name="Google Shape;217;p17"/>
          <p:cNvSpPr/>
          <p:nvPr/>
        </p:nvSpPr>
        <p:spPr>
          <a:xfrm>
            <a:off x="571500" y="4310062"/>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17"/>
          <p:cNvSpPr/>
          <p:nvPr/>
        </p:nvSpPr>
        <p:spPr>
          <a:xfrm>
            <a:off x="571500" y="3252787"/>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9" name="Google Shape;219;p17"/>
          <p:cNvSpPr/>
          <p:nvPr/>
        </p:nvSpPr>
        <p:spPr>
          <a:xfrm>
            <a:off x="571500" y="3252787"/>
            <a:ext cx="57150" cy="1066800"/>
          </a:xfrm>
          <a:prstGeom prst="rect">
            <a:avLst/>
          </a:prstGeom>
          <a:solidFill>
            <a:srgbClr val="0A42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17"/>
          <p:cNvSpPr/>
          <p:nvPr/>
        </p:nvSpPr>
        <p:spPr>
          <a:xfrm>
            <a:off x="5967412" y="3252787"/>
            <a:ext cx="9525" cy="10668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1" name="Google Shape;221;p17"/>
          <p:cNvSpPr/>
          <p:nvPr/>
        </p:nvSpPr>
        <p:spPr>
          <a:xfrm>
            <a:off x="6215062" y="3252787"/>
            <a:ext cx="5405437" cy="1066800"/>
          </a:xfrm>
          <a:prstGeom prst="roundRect">
            <a:avLst>
              <a:gd name="adj" fmla="val 7142"/>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17"/>
          <p:cNvSpPr txBox="1"/>
          <p:nvPr/>
        </p:nvSpPr>
        <p:spPr>
          <a:xfrm>
            <a:off x="7253287" y="3490912"/>
            <a:ext cx="4129087" cy="5905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75" b="0" i="0" u="none" strike="noStrike" cap="none">
                <a:solidFill>
                  <a:srgbClr val="1E293B"/>
                </a:solidFill>
                <a:latin typeface="Roboto Medium"/>
                <a:ea typeface="Roboto Medium"/>
                <a:cs typeface="Roboto Medium"/>
                <a:sym typeface="Roboto Medium"/>
              </a:rPr>
              <a:t>Use TensorFlow and Keras for precise classification.</a:t>
            </a:r>
            <a:endParaRPr/>
          </a:p>
        </p:txBody>
      </p:sp>
      <p:sp>
        <p:nvSpPr>
          <p:cNvPr id="223" name="Google Shape;223;p17"/>
          <p:cNvSpPr/>
          <p:nvPr/>
        </p:nvSpPr>
        <p:spPr>
          <a:xfrm>
            <a:off x="6215062" y="4310062"/>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17"/>
          <p:cNvSpPr/>
          <p:nvPr/>
        </p:nvSpPr>
        <p:spPr>
          <a:xfrm>
            <a:off x="6215062" y="3252787"/>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5" name="Google Shape;225;p17"/>
          <p:cNvSpPr/>
          <p:nvPr/>
        </p:nvSpPr>
        <p:spPr>
          <a:xfrm>
            <a:off x="6215062" y="3252787"/>
            <a:ext cx="57150" cy="1066800"/>
          </a:xfrm>
          <a:prstGeom prst="rect">
            <a:avLst/>
          </a:prstGeom>
          <a:solidFill>
            <a:srgbClr val="0A42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17"/>
          <p:cNvSpPr/>
          <p:nvPr/>
        </p:nvSpPr>
        <p:spPr>
          <a:xfrm>
            <a:off x="11610975" y="3252787"/>
            <a:ext cx="9525" cy="10668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17"/>
          <p:cNvSpPr/>
          <p:nvPr/>
        </p:nvSpPr>
        <p:spPr>
          <a:xfrm>
            <a:off x="571500" y="4557712"/>
            <a:ext cx="5405437" cy="1066800"/>
          </a:xfrm>
          <a:prstGeom prst="roundRect">
            <a:avLst>
              <a:gd name="adj" fmla="val 7142"/>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17"/>
          <p:cNvSpPr txBox="1"/>
          <p:nvPr/>
        </p:nvSpPr>
        <p:spPr>
          <a:xfrm>
            <a:off x="1609725" y="4795837"/>
            <a:ext cx="4129087" cy="5905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75" b="0" i="0" u="none" strike="noStrike" cap="none">
                <a:solidFill>
                  <a:srgbClr val="1E293B"/>
                </a:solidFill>
                <a:latin typeface="Roboto Medium"/>
                <a:ea typeface="Roboto Medium"/>
                <a:cs typeface="Roboto Medium"/>
                <a:sym typeface="Roboto Medium"/>
              </a:rPr>
              <a:t>Visualize energy consumption via interactive UI.</a:t>
            </a:r>
            <a:endParaRPr/>
          </a:p>
        </p:txBody>
      </p:sp>
      <p:sp>
        <p:nvSpPr>
          <p:cNvPr id="229" name="Google Shape;229;p17"/>
          <p:cNvSpPr/>
          <p:nvPr/>
        </p:nvSpPr>
        <p:spPr>
          <a:xfrm>
            <a:off x="571500" y="5614987"/>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0" name="Google Shape;230;p17"/>
          <p:cNvSpPr/>
          <p:nvPr/>
        </p:nvSpPr>
        <p:spPr>
          <a:xfrm>
            <a:off x="571500" y="4557712"/>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1" name="Google Shape;231;p17"/>
          <p:cNvSpPr/>
          <p:nvPr/>
        </p:nvSpPr>
        <p:spPr>
          <a:xfrm>
            <a:off x="571500" y="4557712"/>
            <a:ext cx="57150" cy="1066800"/>
          </a:xfrm>
          <a:prstGeom prst="rect">
            <a:avLst/>
          </a:prstGeom>
          <a:solidFill>
            <a:srgbClr val="0A42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2" name="Google Shape;232;p17"/>
          <p:cNvSpPr/>
          <p:nvPr/>
        </p:nvSpPr>
        <p:spPr>
          <a:xfrm>
            <a:off x="5967412" y="4557712"/>
            <a:ext cx="9525" cy="10668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p17"/>
          <p:cNvSpPr/>
          <p:nvPr/>
        </p:nvSpPr>
        <p:spPr>
          <a:xfrm>
            <a:off x="6215062" y="4557712"/>
            <a:ext cx="5405437" cy="1066800"/>
          </a:xfrm>
          <a:prstGeom prst="roundRect">
            <a:avLst>
              <a:gd name="adj" fmla="val 7142"/>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4" name="Google Shape;234;p17"/>
          <p:cNvSpPr txBox="1"/>
          <p:nvPr/>
        </p:nvSpPr>
        <p:spPr>
          <a:xfrm>
            <a:off x="7215187" y="4795837"/>
            <a:ext cx="4167187" cy="5905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75" b="0" i="0" u="none" strike="noStrike" cap="none">
                <a:solidFill>
                  <a:srgbClr val="1E293B"/>
                </a:solidFill>
                <a:latin typeface="Roboto Medium"/>
                <a:ea typeface="Roboto Medium"/>
                <a:cs typeface="Roboto Medium"/>
                <a:sym typeface="Roboto Medium"/>
              </a:rPr>
              <a:t>Promote sustainable and energy-efficient practices.</a:t>
            </a:r>
            <a:endParaRPr/>
          </a:p>
        </p:txBody>
      </p:sp>
      <p:sp>
        <p:nvSpPr>
          <p:cNvPr id="235" name="Google Shape;235;p17"/>
          <p:cNvSpPr/>
          <p:nvPr/>
        </p:nvSpPr>
        <p:spPr>
          <a:xfrm>
            <a:off x="6215062" y="5614987"/>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6" name="Google Shape;236;p17"/>
          <p:cNvSpPr/>
          <p:nvPr/>
        </p:nvSpPr>
        <p:spPr>
          <a:xfrm>
            <a:off x="6215062" y="4557712"/>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7" name="Google Shape;237;p17"/>
          <p:cNvSpPr/>
          <p:nvPr/>
        </p:nvSpPr>
        <p:spPr>
          <a:xfrm>
            <a:off x="6215062" y="4557712"/>
            <a:ext cx="57150" cy="1066800"/>
          </a:xfrm>
          <a:prstGeom prst="rect">
            <a:avLst/>
          </a:prstGeom>
          <a:solidFill>
            <a:srgbClr val="0A42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8" name="Google Shape;238;p17"/>
          <p:cNvSpPr/>
          <p:nvPr/>
        </p:nvSpPr>
        <p:spPr>
          <a:xfrm>
            <a:off x="11610975" y="4557712"/>
            <a:ext cx="9525" cy="10668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9" name="Google Shape;239;p17"/>
          <p:cNvSpPr/>
          <p:nvPr/>
        </p:nvSpPr>
        <p:spPr>
          <a:xfrm>
            <a:off x="571500" y="3005137"/>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0" name="Google Shape;240;p17"/>
          <p:cNvSpPr/>
          <p:nvPr/>
        </p:nvSpPr>
        <p:spPr>
          <a:xfrm>
            <a:off x="6215062" y="3005137"/>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1" name="Google Shape;241;p17"/>
          <p:cNvSpPr/>
          <p:nvPr/>
        </p:nvSpPr>
        <p:spPr>
          <a:xfrm>
            <a:off x="571500" y="4310062"/>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2" name="Google Shape;242;p17"/>
          <p:cNvSpPr/>
          <p:nvPr/>
        </p:nvSpPr>
        <p:spPr>
          <a:xfrm>
            <a:off x="6215062" y="4310062"/>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3" name="Google Shape;243;p17"/>
          <p:cNvSpPr/>
          <p:nvPr/>
        </p:nvSpPr>
        <p:spPr>
          <a:xfrm>
            <a:off x="571500" y="5614987"/>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4" name="Google Shape;244;p17"/>
          <p:cNvSpPr/>
          <p:nvPr/>
        </p:nvSpPr>
        <p:spPr>
          <a:xfrm>
            <a:off x="6215062" y="5614987"/>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45" name="Google Shape;245;p17" descr="image.png"/>
          <p:cNvPicPr preferRelativeResize="0"/>
          <p:nvPr/>
        </p:nvPicPr>
        <p:blipFill rotWithShape="1">
          <a:blip r:embed="rId5">
            <a:alphaModFix/>
          </a:blip>
          <a:srcRect/>
          <a:stretch/>
        </p:blipFill>
        <p:spPr>
          <a:xfrm>
            <a:off x="866775" y="2190750"/>
            <a:ext cx="361950" cy="295275"/>
          </a:xfrm>
          <a:prstGeom prst="rect">
            <a:avLst/>
          </a:prstGeom>
          <a:noFill/>
          <a:ln>
            <a:noFill/>
          </a:ln>
        </p:spPr>
      </p:pic>
      <p:pic>
        <p:nvPicPr>
          <p:cNvPr id="246" name="Google Shape;246;p17" descr="image.png"/>
          <p:cNvPicPr preferRelativeResize="0"/>
          <p:nvPr/>
        </p:nvPicPr>
        <p:blipFill rotWithShape="1">
          <a:blip r:embed="rId6">
            <a:alphaModFix/>
          </a:blip>
          <a:srcRect/>
          <a:stretch/>
        </p:blipFill>
        <p:spPr>
          <a:xfrm>
            <a:off x="6510337" y="2190750"/>
            <a:ext cx="285750" cy="295275"/>
          </a:xfrm>
          <a:prstGeom prst="rect">
            <a:avLst/>
          </a:prstGeom>
          <a:noFill/>
          <a:ln>
            <a:noFill/>
          </a:ln>
        </p:spPr>
      </p:pic>
      <p:pic>
        <p:nvPicPr>
          <p:cNvPr id="247" name="Google Shape;247;p17" descr="image.png"/>
          <p:cNvPicPr preferRelativeResize="0"/>
          <p:nvPr/>
        </p:nvPicPr>
        <p:blipFill rotWithShape="1">
          <a:blip r:embed="rId7">
            <a:alphaModFix/>
          </a:blip>
          <a:srcRect/>
          <a:stretch/>
        </p:blipFill>
        <p:spPr>
          <a:xfrm>
            <a:off x="866775" y="3495675"/>
            <a:ext cx="285750" cy="295275"/>
          </a:xfrm>
          <a:prstGeom prst="rect">
            <a:avLst/>
          </a:prstGeom>
          <a:noFill/>
          <a:ln>
            <a:noFill/>
          </a:ln>
        </p:spPr>
      </p:pic>
      <p:pic>
        <p:nvPicPr>
          <p:cNvPr id="248" name="Google Shape;248;p17" descr="image.png"/>
          <p:cNvPicPr preferRelativeResize="0"/>
          <p:nvPr/>
        </p:nvPicPr>
        <p:blipFill rotWithShape="1">
          <a:blip r:embed="rId8">
            <a:alphaModFix/>
          </a:blip>
          <a:srcRect/>
          <a:stretch/>
        </p:blipFill>
        <p:spPr>
          <a:xfrm>
            <a:off x="6510337" y="3495675"/>
            <a:ext cx="323850" cy="295275"/>
          </a:xfrm>
          <a:prstGeom prst="rect">
            <a:avLst/>
          </a:prstGeom>
          <a:noFill/>
          <a:ln>
            <a:noFill/>
          </a:ln>
        </p:spPr>
      </p:pic>
      <p:pic>
        <p:nvPicPr>
          <p:cNvPr id="249" name="Google Shape;249;p17" descr="image.png"/>
          <p:cNvPicPr preferRelativeResize="0"/>
          <p:nvPr/>
        </p:nvPicPr>
        <p:blipFill rotWithShape="1">
          <a:blip r:embed="rId9">
            <a:alphaModFix/>
          </a:blip>
          <a:srcRect/>
          <a:stretch/>
        </p:blipFill>
        <p:spPr>
          <a:xfrm>
            <a:off x="866775" y="4800600"/>
            <a:ext cx="323850" cy="295275"/>
          </a:xfrm>
          <a:prstGeom prst="rect">
            <a:avLst/>
          </a:prstGeom>
          <a:noFill/>
          <a:ln>
            <a:noFill/>
          </a:ln>
        </p:spPr>
      </p:pic>
      <p:pic>
        <p:nvPicPr>
          <p:cNvPr id="250" name="Google Shape;250;p17" descr="image.png"/>
          <p:cNvPicPr preferRelativeResize="0"/>
          <p:nvPr/>
        </p:nvPicPr>
        <p:blipFill rotWithShape="1">
          <a:blip r:embed="rId10">
            <a:alphaModFix/>
          </a:blip>
          <a:srcRect/>
          <a:stretch/>
        </p:blipFill>
        <p:spPr>
          <a:xfrm>
            <a:off x="6510337" y="4800600"/>
            <a:ext cx="285750" cy="295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4"/>
        <p:cNvGrpSpPr/>
        <p:nvPr/>
      </p:nvGrpSpPr>
      <p:grpSpPr>
        <a:xfrm>
          <a:off x="0" y="0"/>
          <a:ext cx="0" cy="0"/>
          <a:chOff x="0" y="0"/>
          <a:chExt cx="0" cy="0"/>
        </a:xfrm>
      </p:grpSpPr>
      <p:pic>
        <p:nvPicPr>
          <p:cNvPr id="255" name="Google Shape;255;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6" name="Google Shape;256;p18" descr="image.png"/>
          <p:cNvPicPr preferRelativeResize="0"/>
          <p:nvPr/>
        </p:nvPicPr>
        <p:blipFill rotWithShape="1">
          <a:blip r:embed="rId4">
            <a:alphaModFix/>
          </a:blip>
          <a:srcRect/>
          <a:stretch/>
        </p:blipFill>
        <p:spPr>
          <a:xfrm>
            <a:off x="571500" y="6343650"/>
            <a:ext cx="11049000" cy="323850"/>
          </a:xfrm>
          <a:prstGeom prst="rect">
            <a:avLst/>
          </a:prstGeom>
          <a:noFill/>
          <a:ln>
            <a:noFill/>
          </a:ln>
        </p:spPr>
      </p:pic>
      <p:pic>
        <p:nvPicPr>
          <p:cNvPr id="257" name="Google Shape;257;p18" descr="image.png"/>
          <p:cNvPicPr preferRelativeResize="0"/>
          <p:nvPr/>
        </p:nvPicPr>
        <p:blipFill rotWithShape="1">
          <a:blip r:embed="rId5">
            <a:alphaModFix/>
          </a:blip>
          <a:srcRect/>
          <a:stretch/>
        </p:blipFill>
        <p:spPr>
          <a:xfrm>
            <a:off x="571500" y="1709737"/>
            <a:ext cx="3492400" cy="1933575"/>
          </a:xfrm>
          <a:prstGeom prst="rect">
            <a:avLst/>
          </a:prstGeom>
          <a:noFill/>
          <a:ln>
            <a:noFill/>
          </a:ln>
        </p:spPr>
      </p:pic>
      <p:pic>
        <p:nvPicPr>
          <p:cNvPr id="258" name="Google Shape;258;p18" descr="image.png"/>
          <p:cNvPicPr preferRelativeResize="0"/>
          <p:nvPr/>
        </p:nvPicPr>
        <p:blipFill rotWithShape="1">
          <a:blip r:embed="rId6">
            <a:alphaModFix/>
          </a:blip>
          <a:srcRect/>
          <a:stretch/>
        </p:blipFill>
        <p:spPr>
          <a:xfrm>
            <a:off x="4349650" y="1709737"/>
            <a:ext cx="3492549" cy="1933575"/>
          </a:xfrm>
          <a:prstGeom prst="rect">
            <a:avLst/>
          </a:prstGeom>
          <a:noFill/>
          <a:ln>
            <a:noFill/>
          </a:ln>
        </p:spPr>
      </p:pic>
      <p:pic>
        <p:nvPicPr>
          <p:cNvPr id="259" name="Google Shape;259;p18" descr="image.png"/>
          <p:cNvPicPr preferRelativeResize="0"/>
          <p:nvPr/>
        </p:nvPicPr>
        <p:blipFill rotWithShape="1">
          <a:blip r:embed="rId7">
            <a:alphaModFix/>
          </a:blip>
          <a:srcRect/>
          <a:stretch/>
        </p:blipFill>
        <p:spPr>
          <a:xfrm>
            <a:off x="8127950" y="1709737"/>
            <a:ext cx="3492400" cy="1933575"/>
          </a:xfrm>
          <a:prstGeom prst="rect">
            <a:avLst/>
          </a:prstGeom>
          <a:noFill/>
          <a:ln>
            <a:noFill/>
          </a:ln>
        </p:spPr>
      </p:pic>
      <p:pic>
        <p:nvPicPr>
          <p:cNvPr id="260" name="Google Shape;260;p18" descr="image.png"/>
          <p:cNvPicPr preferRelativeResize="0"/>
          <p:nvPr/>
        </p:nvPicPr>
        <p:blipFill rotWithShape="1">
          <a:blip r:embed="rId5">
            <a:alphaModFix/>
          </a:blip>
          <a:srcRect/>
          <a:stretch/>
        </p:blipFill>
        <p:spPr>
          <a:xfrm>
            <a:off x="571500" y="3929062"/>
            <a:ext cx="3492400" cy="1933575"/>
          </a:xfrm>
          <a:prstGeom prst="rect">
            <a:avLst/>
          </a:prstGeom>
          <a:noFill/>
          <a:ln>
            <a:noFill/>
          </a:ln>
        </p:spPr>
      </p:pic>
      <p:pic>
        <p:nvPicPr>
          <p:cNvPr id="261" name="Google Shape;261;p18" descr="image.png"/>
          <p:cNvPicPr preferRelativeResize="0"/>
          <p:nvPr/>
        </p:nvPicPr>
        <p:blipFill rotWithShape="1">
          <a:blip r:embed="rId6">
            <a:alphaModFix/>
          </a:blip>
          <a:srcRect/>
          <a:stretch/>
        </p:blipFill>
        <p:spPr>
          <a:xfrm>
            <a:off x="4349650" y="3929062"/>
            <a:ext cx="3492549" cy="1933575"/>
          </a:xfrm>
          <a:prstGeom prst="rect">
            <a:avLst/>
          </a:prstGeom>
          <a:noFill/>
          <a:ln>
            <a:noFill/>
          </a:ln>
        </p:spPr>
      </p:pic>
      <p:pic>
        <p:nvPicPr>
          <p:cNvPr id="262" name="Google Shape;262;p18" descr="image.png"/>
          <p:cNvPicPr preferRelativeResize="0"/>
          <p:nvPr/>
        </p:nvPicPr>
        <p:blipFill rotWithShape="1">
          <a:blip r:embed="rId7">
            <a:alphaModFix/>
          </a:blip>
          <a:srcRect/>
          <a:stretch/>
        </p:blipFill>
        <p:spPr>
          <a:xfrm>
            <a:off x="8127950" y="3929062"/>
            <a:ext cx="3492400" cy="1933575"/>
          </a:xfrm>
          <a:prstGeom prst="rect">
            <a:avLst/>
          </a:prstGeom>
          <a:noFill/>
          <a:ln>
            <a:noFill/>
          </a:ln>
        </p:spPr>
      </p:pic>
      <p:sp>
        <p:nvSpPr>
          <p:cNvPr id="263" name="Google Shape;263;p18"/>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A4275"/>
                </a:solidFill>
                <a:latin typeface="Montserrat"/>
                <a:ea typeface="Montserrat"/>
                <a:cs typeface="Montserrat"/>
                <a:sym typeface="Montserrat"/>
              </a:rPr>
              <a:t>Proposed System</a:t>
            </a:r>
            <a:endParaRPr/>
          </a:p>
        </p:txBody>
      </p:sp>
      <p:sp>
        <p:nvSpPr>
          <p:cNvPr id="264" name="Google Shape;264;p18"/>
          <p:cNvSpPr/>
          <p:nvPr/>
        </p:nvSpPr>
        <p:spPr>
          <a:xfrm>
            <a:off x="571500" y="1066800"/>
            <a:ext cx="11049000" cy="28575"/>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18"/>
          <p:cNvSpPr txBox="1"/>
          <p:nvPr/>
        </p:nvSpPr>
        <p:spPr>
          <a:xfrm>
            <a:off x="571500" y="6496050"/>
            <a:ext cx="27336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PDA College of Engineering | AI &amp; ML Dept</a:t>
            </a:r>
            <a:endParaRPr/>
          </a:p>
        </p:txBody>
      </p:sp>
      <p:sp>
        <p:nvSpPr>
          <p:cNvPr id="266" name="Google Shape;266;p18"/>
          <p:cNvSpPr txBox="1"/>
          <p:nvPr/>
        </p:nvSpPr>
        <p:spPr>
          <a:xfrm>
            <a:off x="11182350" y="6496050"/>
            <a:ext cx="4381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Slide 6</a:t>
            </a:r>
            <a:endParaRPr/>
          </a:p>
        </p:txBody>
      </p:sp>
      <p:pic>
        <p:nvPicPr>
          <p:cNvPr id="267" name="Google Shape;267;p18" descr="image.png"/>
          <p:cNvPicPr preferRelativeResize="0"/>
          <p:nvPr/>
        </p:nvPicPr>
        <p:blipFill rotWithShape="1">
          <a:blip r:embed="rId8">
            <a:alphaModFix/>
          </a:blip>
          <a:srcRect/>
          <a:stretch/>
        </p:blipFill>
        <p:spPr>
          <a:xfrm>
            <a:off x="1936700" y="2043112"/>
            <a:ext cx="762000" cy="762000"/>
          </a:xfrm>
          <a:prstGeom prst="rect">
            <a:avLst/>
          </a:prstGeom>
          <a:noFill/>
          <a:ln>
            <a:noFill/>
          </a:ln>
        </p:spPr>
      </p:pic>
      <p:sp>
        <p:nvSpPr>
          <p:cNvPr id="268" name="Google Shape;268;p18"/>
          <p:cNvSpPr txBox="1"/>
          <p:nvPr/>
        </p:nvSpPr>
        <p:spPr>
          <a:xfrm>
            <a:off x="694216" y="2995612"/>
            <a:ext cx="3246968"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A4275"/>
                </a:solidFill>
                <a:latin typeface="Montserrat"/>
                <a:ea typeface="Montserrat"/>
                <a:cs typeface="Montserrat"/>
                <a:sym typeface="Montserrat"/>
              </a:rPr>
              <a:t>1. Data Collection</a:t>
            </a:r>
            <a:endParaRPr/>
          </a:p>
        </p:txBody>
      </p:sp>
      <p:pic>
        <p:nvPicPr>
          <p:cNvPr id="269" name="Google Shape;269;p18" descr="image.png"/>
          <p:cNvPicPr preferRelativeResize="0"/>
          <p:nvPr/>
        </p:nvPicPr>
        <p:blipFill rotWithShape="1">
          <a:blip r:embed="rId9">
            <a:alphaModFix/>
          </a:blip>
          <a:srcRect/>
          <a:stretch/>
        </p:blipFill>
        <p:spPr>
          <a:xfrm>
            <a:off x="5714851" y="2043112"/>
            <a:ext cx="762000" cy="762000"/>
          </a:xfrm>
          <a:prstGeom prst="rect">
            <a:avLst/>
          </a:prstGeom>
          <a:noFill/>
          <a:ln>
            <a:noFill/>
          </a:ln>
        </p:spPr>
      </p:pic>
      <p:sp>
        <p:nvSpPr>
          <p:cNvPr id="270" name="Google Shape;270;p18"/>
          <p:cNvSpPr txBox="1"/>
          <p:nvPr/>
        </p:nvSpPr>
        <p:spPr>
          <a:xfrm>
            <a:off x="4472363" y="2995612"/>
            <a:ext cx="3247124"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A4275"/>
                </a:solidFill>
                <a:latin typeface="Montserrat"/>
                <a:ea typeface="Montserrat"/>
                <a:cs typeface="Montserrat"/>
                <a:sym typeface="Montserrat"/>
              </a:rPr>
              <a:t>2. Data Preprocessing</a:t>
            </a:r>
            <a:endParaRPr/>
          </a:p>
        </p:txBody>
      </p:sp>
      <p:pic>
        <p:nvPicPr>
          <p:cNvPr id="271" name="Google Shape;271;p18" descr="image.png"/>
          <p:cNvPicPr preferRelativeResize="0"/>
          <p:nvPr/>
        </p:nvPicPr>
        <p:blipFill rotWithShape="1">
          <a:blip r:embed="rId10">
            <a:alphaModFix/>
          </a:blip>
          <a:srcRect/>
          <a:stretch/>
        </p:blipFill>
        <p:spPr>
          <a:xfrm>
            <a:off x="9493150" y="2043112"/>
            <a:ext cx="762000" cy="762000"/>
          </a:xfrm>
          <a:prstGeom prst="rect">
            <a:avLst/>
          </a:prstGeom>
          <a:noFill/>
          <a:ln>
            <a:noFill/>
          </a:ln>
        </p:spPr>
      </p:pic>
      <p:sp>
        <p:nvSpPr>
          <p:cNvPr id="272" name="Google Shape;272;p18"/>
          <p:cNvSpPr txBox="1"/>
          <p:nvPr/>
        </p:nvSpPr>
        <p:spPr>
          <a:xfrm>
            <a:off x="8250666" y="2995612"/>
            <a:ext cx="3246968"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A4275"/>
                </a:solidFill>
                <a:latin typeface="Montserrat"/>
                <a:ea typeface="Montserrat"/>
                <a:cs typeface="Montserrat"/>
                <a:sym typeface="Montserrat"/>
              </a:rPr>
              <a:t>3. Feature Extraction</a:t>
            </a:r>
            <a:endParaRPr/>
          </a:p>
        </p:txBody>
      </p:sp>
      <p:pic>
        <p:nvPicPr>
          <p:cNvPr id="273" name="Google Shape;273;p18" descr="image.png"/>
          <p:cNvPicPr preferRelativeResize="0"/>
          <p:nvPr/>
        </p:nvPicPr>
        <p:blipFill rotWithShape="1">
          <a:blip r:embed="rId11">
            <a:alphaModFix/>
          </a:blip>
          <a:srcRect/>
          <a:stretch/>
        </p:blipFill>
        <p:spPr>
          <a:xfrm>
            <a:off x="1936700" y="4262437"/>
            <a:ext cx="762000" cy="762000"/>
          </a:xfrm>
          <a:prstGeom prst="rect">
            <a:avLst/>
          </a:prstGeom>
          <a:noFill/>
          <a:ln>
            <a:noFill/>
          </a:ln>
        </p:spPr>
      </p:pic>
      <p:sp>
        <p:nvSpPr>
          <p:cNvPr id="274" name="Google Shape;274;p18"/>
          <p:cNvSpPr txBox="1"/>
          <p:nvPr/>
        </p:nvSpPr>
        <p:spPr>
          <a:xfrm>
            <a:off x="694216" y="5214937"/>
            <a:ext cx="3246968"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A4275"/>
                </a:solidFill>
                <a:latin typeface="Montserrat"/>
                <a:ea typeface="Montserrat"/>
                <a:cs typeface="Montserrat"/>
                <a:sym typeface="Montserrat"/>
              </a:rPr>
              <a:t>4. Machine Learning Model</a:t>
            </a:r>
            <a:endParaRPr/>
          </a:p>
        </p:txBody>
      </p:sp>
      <p:pic>
        <p:nvPicPr>
          <p:cNvPr id="275" name="Google Shape;275;p18" descr="image.png"/>
          <p:cNvPicPr preferRelativeResize="0"/>
          <p:nvPr/>
        </p:nvPicPr>
        <p:blipFill rotWithShape="1">
          <a:blip r:embed="rId12">
            <a:alphaModFix/>
          </a:blip>
          <a:srcRect/>
          <a:stretch/>
        </p:blipFill>
        <p:spPr>
          <a:xfrm>
            <a:off x="5714851" y="4262437"/>
            <a:ext cx="762000" cy="762000"/>
          </a:xfrm>
          <a:prstGeom prst="rect">
            <a:avLst/>
          </a:prstGeom>
          <a:noFill/>
          <a:ln>
            <a:noFill/>
          </a:ln>
        </p:spPr>
      </p:pic>
      <p:sp>
        <p:nvSpPr>
          <p:cNvPr id="276" name="Google Shape;276;p18"/>
          <p:cNvSpPr txBox="1"/>
          <p:nvPr/>
        </p:nvSpPr>
        <p:spPr>
          <a:xfrm>
            <a:off x="4472363" y="5214937"/>
            <a:ext cx="3247124"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A4275"/>
                </a:solidFill>
                <a:latin typeface="Montserrat"/>
                <a:ea typeface="Montserrat"/>
                <a:cs typeface="Montserrat"/>
                <a:sym typeface="Montserrat"/>
              </a:rPr>
              <a:t>5. Appliance Classification</a:t>
            </a:r>
            <a:endParaRPr/>
          </a:p>
        </p:txBody>
      </p:sp>
      <p:pic>
        <p:nvPicPr>
          <p:cNvPr id="277" name="Google Shape;277;p18" descr="image.png"/>
          <p:cNvPicPr preferRelativeResize="0"/>
          <p:nvPr/>
        </p:nvPicPr>
        <p:blipFill rotWithShape="1">
          <a:blip r:embed="rId13">
            <a:alphaModFix/>
          </a:blip>
          <a:srcRect/>
          <a:stretch/>
        </p:blipFill>
        <p:spPr>
          <a:xfrm>
            <a:off x="9493150" y="4262437"/>
            <a:ext cx="762000" cy="762000"/>
          </a:xfrm>
          <a:prstGeom prst="rect">
            <a:avLst/>
          </a:prstGeom>
          <a:noFill/>
          <a:ln>
            <a:noFill/>
          </a:ln>
        </p:spPr>
      </p:pic>
      <p:sp>
        <p:nvSpPr>
          <p:cNvPr id="278" name="Google Shape;278;p18"/>
          <p:cNvSpPr txBox="1"/>
          <p:nvPr/>
        </p:nvSpPr>
        <p:spPr>
          <a:xfrm>
            <a:off x="8250666" y="5214937"/>
            <a:ext cx="3246968"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A4275"/>
                </a:solidFill>
                <a:latin typeface="Montserrat"/>
                <a:ea typeface="Montserrat"/>
                <a:cs typeface="Montserrat"/>
                <a:sym typeface="Montserrat"/>
              </a:rPr>
              <a:t>6. Dashboard Visualization</a:t>
            </a:r>
            <a:endParaRPr/>
          </a:p>
        </p:txBody>
      </p:sp>
      <p:pic>
        <p:nvPicPr>
          <p:cNvPr id="279" name="Google Shape;279;p18" descr="image.png"/>
          <p:cNvPicPr preferRelativeResize="0"/>
          <p:nvPr/>
        </p:nvPicPr>
        <p:blipFill rotWithShape="1">
          <a:blip r:embed="rId14">
            <a:alphaModFix/>
          </a:blip>
          <a:srcRect/>
          <a:stretch/>
        </p:blipFill>
        <p:spPr>
          <a:xfrm>
            <a:off x="2184350" y="2271712"/>
            <a:ext cx="266700" cy="304800"/>
          </a:xfrm>
          <a:prstGeom prst="rect">
            <a:avLst/>
          </a:prstGeom>
          <a:noFill/>
          <a:ln>
            <a:noFill/>
          </a:ln>
        </p:spPr>
      </p:pic>
      <p:pic>
        <p:nvPicPr>
          <p:cNvPr id="280" name="Google Shape;280;p18" descr="image.png"/>
          <p:cNvPicPr preferRelativeResize="0"/>
          <p:nvPr/>
        </p:nvPicPr>
        <p:blipFill rotWithShape="1">
          <a:blip r:embed="rId15">
            <a:alphaModFix/>
          </a:blip>
          <a:srcRect/>
          <a:stretch/>
        </p:blipFill>
        <p:spPr>
          <a:xfrm>
            <a:off x="5905351" y="2271712"/>
            <a:ext cx="381000" cy="304800"/>
          </a:xfrm>
          <a:prstGeom prst="rect">
            <a:avLst/>
          </a:prstGeom>
          <a:noFill/>
          <a:ln>
            <a:noFill/>
          </a:ln>
        </p:spPr>
      </p:pic>
      <p:pic>
        <p:nvPicPr>
          <p:cNvPr id="281" name="Google Shape;281;p18" descr="image.png"/>
          <p:cNvPicPr preferRelativeResize="0"/>
          <p:nvPr/>
        </p:nvPicPr>
        <p:blipFill rotWithShape="1">
          <a:blip r:embed="rId16">
            <a:alphaModFix/>
          </a:blip>
          <a:srcRect/>
          <a:stretch/>
        </p:blipFill>
        <p:spPr>
          <a:xfrm>
            <a:off x="9702700" y="2271712"/>
            <a:ext cx="342900" cy="304800"/>
          </a:xfrm>
          <a:prstGeom prst="rect">
            <a:avLst/>
          </a:prstGeom>
          <a:noFill/>
          <a:ln>
            <a:noFill/>
          </a:ln>
        </p:spPr>
      </p:pic>
      <p:pic>
        <p:nvPicPr>
          <p:cNvPr id="282" name="Google Shape;282;p18" descr="image.png"/>
          <p:cNvPicPr preferRelativeResize="0"/>
          <p:nvPr/>
        </p:nvPicPr>
        <p:blipFill rotWithShape="1">
          <a:blip r:embed="rId17">
            <a:alphaModFix/>
          </a:blip>
          <a:srcRect/>
          <a:stretch/>
        </p:blipFill>
        <p:spPr>
          <a:xfrm>
            <a:off x="2127200" y="4491037"/>
            <a:ext cx="381000" cy="304800"/>
          </a:xfrm>
          <a:prstGeom prst="rect">
            <a:avLst/>
          </a:prstGeom>
          <a:noFill/>
          <a:ln>
            <a:noFill/>
          </a:ln>
        </p:spPr>
      </p:pic>
      <p:pic>
        <p:nvPicPr>
          <p:cNvPr id="283" name="Google Shape;283;p18" descr="image.png"/>
          <p:cNvPicPr preferRelativeResize="0"/>
          <p:nvPr/>
        </p:nvPicPr>
        <p:blipFill rotWithShape="1">
          <a:blip r:embed="rId18">
            <a:alphaModFix/>
          </a:blip>
          <a:srcRect/>
          <a:stretch/>
        </p:blipFill>
        <p:spPr>
          <a:xfrm>
            <a:off x="5943451" y="4491037"/>
            <a:ext cx="304800" cy="304800"/>
          </a:xfrm>
          <a:prstGeom prst="rect">
            <a:avLst/>
          </a:prstGeom>
          <a:noFill/>
          <a:ln>
            <a:noFill/>
          </a:ln>
        </p:spPr>
      </p:pic>
      <p:pic>
        <p:nvPicPr>
          <p:cNvPr id="284" name="Google Shape;284;p18" descr="image.png"/>
          <p:cNvPicPr preferRelativeResize="0"/>
          <p:nvPr/>
        </p:nvPicPr>
        <p:blipFill rotWithShape="1">
          <a:blip r:embed="rId19">
            <a:alphaModFix/>
          </a:blip>
          <a:srcRect/>
          <a:stretch/>
        </p:blipFill>
        <p:spPr>
          <a:xfrm>
            <a:off x="9702700" y="4491037"/>
            <a:ext cx="342900" cy="304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8"/>
        <p:cNvGrpSpPr/>
        <p:nvPr/>
      </p:nvGrpSpPr>
      <p:grpSpPr>
        <a:xfrm>
          <a:off x="0" y="0"/>
          <a:ext cx="0" cy="0"/>
          <a:chOff x="0" y="0"/>
          <a:chExt cx="0" cy="0"/>
        </a:xfrm>
      </p:grpSpPr>
      <p:pic>
        <p:nvPicPr>
          <p:cNvPr id="289" name="Google Shape;289;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90" name="Google Shape;290;p19" descr="image.png"/>
          <p:cNvPicPr preferRelativeResize="0"/>
          <p:nvPr/>
        </p:nvPicPr>
        <p:blipFill rotWithShape="1">
          <a:blip r:embed="rId4">
            <a:alphaModFix/>
          </a:blip>
          <a:srcRect/>
          <a:stretch/>
        </p:blipFill>
        <p:spPr>
          <a:xfrm>
            <a:off x="571500" y="1476375"/>
            <a:ext cx="11049000" cy="4619625"/>
          </a:xfrm>
          <a:prstGeom prst="rect">
            <a:avLst/>
          </a:prstGeom>
          <a:noFill/>
          <a:ln>
            <a:noFill/>
          </a:ln>
        </p:spPr>
      </p:pic>
      <p:pic>
        <p:nvPicPr>
          <p:cNvPr id="291" name="Google Shape;291;p19" descr="image.png"/>
          <p:cNvPicPr preferRelativeResize="0"/>
          <p:nvPr/>
        </p:nvPicPr>
        <p:blipFill rotWithShape="1">
          <a:blip r:embed="rId5">
            <a:alphaModFix/>
          </a:blip>
          <a:srcRect/>
          <a:stretch/>
        </p:blipFill>
        <p:spPr>
          <a:xfrm>
            <a:off x="571500" y="6343650"/>
            <a:ext cx="11049000" cy="323850"/>
          </a:xfrm>
          <a:prstGeom prst="rect">
            <a:avLst/>
          </a:prstGeom>
          <a:noFill/>
          <a:ln>
            <a:noFill/>
          </a:ln>
        </p:spPr>
      </p:pic>
      <p:sp>
        <p:nvSpPr>
          <p:cNvPr id="292" name="Google Shape;292;p19"/>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A4275"/>
                </a:solidFill>
                <a:latin typeface="Montserrat"/>
                <a:ea typeface="Montserrat"/>
                <a:cs typeface="Montserrat"/>
                <a:sym typeface="Montserrat"/>
              </a:rPr>
              <a:t>System Architecture</a:t>
            </a:r>
            <a:endParaRPr/>
          </a:p>
        </p:txBody>
      </p:sp>
      <p:sp>
        <p:nvSpPr>
          <p:cNvPr id="293" name="Google Shape;293;p19"/>
          <p:cNvSpPr/>
          <p:nvPr/>
        </p:nvSpPr>
        <p:spPr>
          <a:xfrm>
            <a:off x="571500" y="1066800"/>
            <a:ext cx="11049000" cy="28575"/>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4" name="Google Shape;294;p19"/>
          <p:cNvSpPr txBox="1"/>
          <p:nvPr/>
        </p:nvSpPr>
        <p:spPr>
          <a:xfrm>
            <a:off x="571500" y="6496050"/>
            <a:ext cx="27336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PDA College of Engineering | AI &amp; ML Dept</a:t>
            </a:r>
            <a:endParaRPr/>
          </a:p>
        </p:txBody>
      </p:sp>
      <p:sp>
        <p:nvSpPr>
          <p:cNvPr id="295" name="Google Shape;295;p19"/>
          <p:cNvSpPr txBox="1"/>
          <p:nvPr/>
        </p:nvSpPr>
        <p:spPr>
          <a:xfrm>
            <a:off x="11182350" y="6496050"/>
            <a:ext cx="4381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Slide 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9"/>
        <p:cNvGrpSpPr/>
        <p:nvPr/>
      </p:nvGrpSpPr>
      <p:grpSpPr>
        <a:xfrm>
          <a:off x="0" y="0"/>
          <a:ext cx="0" cy="0"/>
          <a:chOff x="0" y="0"/>
          <a:chExt cx="0" cy="0"/>
        </a:xfrm>
      </p:grpSpPr>
      <p:pic>
        <p:nvPicPr>
          <p:cNvPr id="300" name="Google Shape;300;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1" name="Google Shape;301;p20" descr="image.png"/>
          <p:cNvPicPr preferRelativeResize="0"/>
          <p:nvPr/>
        </p:nvPicPr>
        <p:blipFill rotWithShape="1">
          <a:blip r:embed="rId4">
            <a:alphaModFix/>
          </a:blip>
          <a:srcRect/>
          <a:stretch/>
        </p:blipFill>
        <p:spPr>
          <a:xfrm>
            <a:off x="571500" y="6343650"/>
            <a:ext cx="11049000" cy="323850"/>
          </a:xfrm>
          <a:prstGeom prst="rect">
            <a:avLst/>
          </a:prstGeom>
          <a:noFill/>
          <a:ln>
            <a:noFill/>
          </a:ln>
        </p:spPr>
      </p:pic>
      <p:pic>
        <p:nvPicPr>
          <p:cNvPr id="302" name="Google Shape;302;p20" descr="image.png"/>
          <p:cNvPicPr preferRelativeResize="0"/>
          <p:nvPr/>
        </p:nvPicPr>
        <p:blipFill rotWithShape="1">
          <a:blip r:embed="rId5">
            <a:alphaModFix/>
          </a:blip>
          <a:srcRect/>
          <a:stretch/>
        </p:blipFill>
        <p:spPr>
          <a:xfrm>
            <a:off x="571500" y="1928812"/>
            <a:ext cx="5334000" cy="3714750"/>
          </a:xfrm>
          <a:prstGeom prst="rect">
            <a:avLst/>
          </a:prstGeom>
          <a:noFill/>
          <a:ln>
            <a:noFill/>
          </a:ln>
        </p:spPr>
      </p:pic>
      <p:pic>
        <p:nvPicPr>
          <p:cNvPr id="303" name="Google Shape;303;p20" descr="image.png"/>
          <p:cNvPicPr preferRelativeResize="0"/>
          <p:nvPr/>
        </p:nvPicPr>
        <p:blipFill rotWithShape="1">
          <a:blip r:embed="rId6">
            <a:alphaModFix/>
          </a:blip>
          <a:srcRect/>
          <a:stretch/>
        </p:blipFill>
        <p:spPr>
          <a:xfrm>
            <a:off x="6286500" y="1928812"/>
            <a:ext cx="5334000" cy="3714750"/>
          </a:xfrm>
          <a:prstGeom prst="rect">
            <a:avLst/>
          </a:prstGeom>
          <a:noFill/>
          <a:ln>
            <a:noFill/>
          </a:ln>
        </p:spPr>
      </p:pic>
      <p:sp>
        <p:nvSpPr>
          <p:cNvPr id="304" name="Google Shape;304;p20"/>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A4275"/>
                </a:solidFill>
                <a:latin typeface="Montserrat"/>
                <a:ea typeface="Montserrat"/>
                <a:cs typeface="Montserrat"/>
                <a:sym typeface="Montserrat"/>
              </a:rPr>
              <a:t>Implementation</a:t>
            </a:r>
            <a:endParaRPr/>
          </a:p>
        </p:txBody>
      </p:sp>
      <p:sp>
        <p:nvSpPr>
          <p:cNvPr id="305" name="Google Shape;305;p20"/>
          <p:cNvSpPr/>
          <p:nvPr/>
        </p:nvSpPr>
        <p:spPr>
          <a:xfrm>
            <a:off x="571500" y="1066800"/>
            <a:ext cx="11049000" cy="28575"/>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6" name="Google Shape;306;p20"/>
          <p:cNvSpPr txBox="1"/>
          <p:nvPr/>
        </p:nvSpPr>
        <p:spPr>
          <a:xfrm>
            <a:off x="571500" y="6496050"/>
            <a:ext cx="27336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PDA College of Engineering | AI &amp; ML Dept</a:t>
            </a:r>
            <a:endParaRPr/>
          </a:p>
        </p:txBody>
      </p:sp>
      <p:sp>
        <p:nvSpPr>
          <p:cNvPr id="307" name="Google Shape;307;p20"/>
          <p:cNvSpPr txBox="1"/>
          <p:nvPr/>
        </p:nvSpPr>
        <p:spPr>
          <a:xfrm>
            <a:off x="11182350" y="6496050"/>
            <a:ext cx="4381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Slide 8</a:t>
            </a:r>
            <a:endParaRPr/>
          </a:p>
        </p:txBody>
      </p:sp>
      <p:sp>
        <p:nvSpPr>
          <p:cNvPr id="308" name="Google Shape;308;p20"/>
          <p:cNvSpPr txBox="1"/>
          <p:nvPr/>
        </p:nvSpPr>
        <p:spPr>
          <a:xfrm>
            <a:off x="1323975" y="2319337"/>
            <a:ext cx="4450556" cy="3238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50" b="1" i="0" u="none" strike="noStrike" cap="none">
                <a:solidFill>
                  <a:srgbClr val="0A4275"/>
                </a:solidFill>
                <a:latin typeface="Montserrat"/>
                <a:ea typeface="Montserrat"/>
                <a:cs typeface="Montserrat"/>
                <a:sym typeface="Montserrat"/>
              </a:rPr>
              <a:t> Software Requirements</a:t>
            </a:r>
            <a:endParaRPr/>
          </a:p>
        </p:txBody>
      </p:sp>
      <p:sp>
        <p:nvSpPr>
          <p:cNvPr id="309" name="Google Shape;309;p20"/>
          <p:cNvSpPr/>
          <p:nvPr/>
        </p:nvSpPr>
        <p:spPr>
          <a:xfrm>
            <a:off x="914400" y="2767012"/>
            <a:ext cx="464820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0" name="Google Shape;310;p20"/>
          <p:cNvSpPr txBox="1"/>
          <p:nvPr/>
        </p:nvSpPr>
        <p:spPr>
          <a:xfrm>
            <a:off x="7115175" y="2319337"/>
            <a:ext cx="4370546" cy="3238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50" b="1" i="0" u="none" strike="noStrike" cap="none">
                <a:solidFill>
                  <a:srgbClr val="0A4275"/>
                </a:solidFill>
                <a:latin typeface="Montserrat"/>
                <a:ea typeface="Montserrat"/>
                <a:cs typeface="Montserrat"/>
                <a:sym typeface="Montserrat"/>
              </a:rPr>
              <a:t>Hardware Requirements</a:t>
            </a:r>
            <a:endParaRPr/>
          </a:p>
        </p:txBody>
      </p:sp>
      <p:sp>
        <p:nvSpPr>
          <p:cNvPr id="311" name="Google Shape;311;p20"/>
          <p:cNvSpPr/>
          <p:nvPr/>
        </p:nvSpPr>
        <p:spPr>
          <a:xfrm>
            <a:off x="6629400" y="2767012"/>
            <a:ext cx="464820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2" name="Google Shape;312;p20" descr="image.png"/>
          <p:cNvPicPr preferRelativeResize="0"/>
          <p:nvPr/>
        </p:nvPicPr>
        <p:blipFill rotWithShape="1">
          <a:blip r:embed="rId7">
            <a:alphaModFix/>
          </a:blip>
          <a:srcRect/>
          <a:stretch/>
        </p:blipFill>
        <p:spPr>
          <a:xfrm>
            <a:off x="914400" y="2319337"/>
            <a:ext cx="266700" cy="304800"/>
          </a:xfrm>
          <a:prstGeom prst="rect">
            <a:avLst/>
          </a:prstGeom>
          <a:noFill/>
          <a:ln>
            <a:noFill/>
          </a:ln>
        </p:spPr>
      </p:pic>
      <p:sp>
        <p:nvSpPr>
          <p:cNvPr id="313" name="Google Shape;313;p20"/>
          <p:cNvSpPr txBox="1"/>
          <p:nvPr/>
        </p:nvSpPr>
        <p:spPr>
          <a:xfrm>
            <a:off x="1266825" y="3071812"/>
            <a:ext cx="4295775"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334155"/>
                </a:solidFill>
                <a:latin typeface="Roboto Medium"/>
                <a:ea typeface="Roboto Medium"/>
                <a:cs typeface="Roboto Medium"/>
                <a:sym typeface="Roboto Medium"/>
              </a:rPr>
              <a:t>Python 3.x</a:t>
            </a:r>
            <a:endParaRPr/>
          </a:p>
        </p:txBody>
      </p:sp>
      <p:sp>
        <p:nvSpPr>
          <p:cNvPr id="314" name="Google Shape;314;p20"/>
          <p:cNvSpPr txBox="1"/>
          <p:nvPr/>
        </p:nvSpPr>
        <p:spPr>
          <a:xfrm>
            <a:off x="1266825" y="3471862"/>
            <a:ext cx="4295775"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334155"/>
                </a:solidFill>
                <a:latin typeface="Roboto Medium"/>
                <a:ea typeface="Roboto Medium"/>
                <a:cs typeface="Roboto Medium"/>
                <a:sym typeface="Roboto Medium"/>
              </a:rPr>
              <a:t>TensorFlow</a:t>
            </a:r>
            <a:endParaRPr/>
          </a:p>
        </p:txBody>
      </p:sp>
      <p:sp>
        <p:nvSpPr>
          <p:cNvPr id="315" name="Google Shape;315;p20"/>
          <p:cNvSpPr txBox="1"/>
          <p:nvPr/>
        </p:nvSpPr>
        <p:spPr>
          <a:xfrm>
            <a:off x="1266825" y="3871912"/>
            <a:ext cx="4295775"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334155"/>
                </a:solidFill>
                <a:latin typeface="Roboto Medium"/>
                <a:ea typeface="Roboto Medium"/>
                <a:cs typeface="Roboto Medium"/>
                <a:sym typeface="Roboto Medium"/>
              </a:rPr>
              <a:t>Keras</a:t>
            </a:r>
            <a:endParaRPr/>
          </a:p>
        </p:txBody>
      </p:sp>
      <p:sp>
        <p:nvSpPr>
          <p:cNvPr id="316" name="Google Shape;316;p20"/>
          <p:cNvSpPr txBox="1"/>
          <p:nvPr/>
        </p:nvSpPr>
        <p:spPr>
          <a:xfrm>
            <a:off x="1266825" y="4271962"/>
            <a:ext cx="4295775"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334155"/>
                </a:solidFill>
                <a:latin typeface="Roboto Medium"/>
                <a:ea typeface="Roboto Medium"/>
                <a:cs typeface="Roboto Medium"/>
                <a:sym typeface="Roboto Medium"/>
              </a:rPr>
              <a:t>Pandas</a:t>
            </a:r>
            <a:endParaRPr/>
          </a:p>
        </p:txBody>
      </p:sp>
      <p:sp>
        <p:nvSpPr>
          <p:cNvPr id="317" name="Google Shape;317;p20"/>
          <p:cNvSpPr txBox="1"/>
          <p:nvPr/>
        </p:nvSpPr>
        <p:spPr>
          <a:xfrm>
            <a:off x="1266825" y="4672012"/>
            <a:ext cx="4295775"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334155"/>
                </a:solidFill>
                <a:latin typeface="Roboto Medium"/>
                <a:ea typeface="Roboto Medium"/>
                <a:cs typeface="Roboto Medium"/>
                <a:sym typeface="Roboto Medium"/>
              </a:rPr>
              <a:t>NumPy</a:t>
            </a:r>
            <a:endParaRPr/>
          </a:p>
        </p:txBody>
      </p:sp>
      <p:sp>
        <p:nvSpPr>
          <p:cNvPr id="318" name="Google Shape;318;p20"/>
          <p:cNvSpPr txBox="1"/>
          <p:nvPr/>
        </p:nvSpPr>
        <p:spPr>
          <a:xfrm>
            <a:off x="1266825" y="5072062"/>
            <a:ext cx="4295775"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334155"/>
                </a:solidFill>
                <a:latin typeface="Roboto Medium"/>
                <a:ea typeface="Roboto Medium"/>
                <a:cs typeface="Roboto Medium"/>
                <a:sym typeface="Roboto Medium"/>
              </a:rPr>
              <a:t>Streamlit</a:t>
            </a:r>
            <a:endParaRPr/>
          </a:p>
        </p:txBody>
      </p:sp>
      <p:pic>
        <p:nvPicPr>
          <p:cNvPr id="319" name="Google Shape;319;p20" descr="image.png"/>
          <p:cNvPicPr preferRelativeResize="0"/>
          <p:nvPr/>
        </p:nvPicPr>
        <p:blipFill rotWithShape="1">
          <a:blip r:embed="rId8">
            <a:alphaModFix/>
          </a:blip>
          <a:srcRect/>
          <a:stretch/>
        </p:blipFill>
        <p:spPr>
          <a:xfrm>
            <a:off x="6629400" y="2319337"/>
            <a:ext cx="342900" cy="304800"/>
          </a:xfrm>
          <a:prstGeom prst="rect">
            <a:avLst/>
          </a:prstGeom>
          <a:noFill/>
          <a:ln>
            <a:noFill/>
          </a:ln>
        </p:spPr>
      </p:pic>
      <p:sp>
        <p:nvSpPr>
          <p:cNvPr id="320" name="Google Shape;320;p20"/>
          <p:cNvSpPr txBox="1"/>
          <p:nvPr/>
        </p:nvSpPr>
        <p:spPr>
          <a:xfrm>
            <a:off x="6981825" y="3071812"/>
            <a:ext cx="4295775"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334155"/>
                </a:solidFill>
                <a:latin typeface="Roboto Medium"/>
                <a:ea typeface="Roboto Medium"/>
                <a:cs typeface="Roboto Medium"/>
                <a:sym typeface="Roboto Medium"/>
              </a:rPr>
              <a:t>Intel i5 Processor or above</a:t>
            </a:r>
            <a:endParaRPr/>
          </a:p>
        </p:txBody>
      </p:sp>
      <p:sp>
        <p:nvSpPr>
          <p:cNvPr id="321" name="Google Shape;321;p20"/>
          <p:cNvSpPr txBox="1"/>
          <p:nvPr/>
        </p:nvSpPr>
        <p:spPr>
          <a:xfrm>
            <a:off x="6981825" y="3471862"/>
            <a:ext cx="4295775"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334155"/>
                </a:solidFill>
                <a:latin typeface="Roboto Medium"/>
                <a:ea typeface="Roboto Medium"/>
                <a:cs typeface="Roboto Medium"/>
                <a:sym typeface="Roboto Medium"/>
              </a:rPr>
              <a:t>8 GB RAM Minimum</a:t>
            </a:r>
            <a:endParaRPr/>
          </a:p>
        </p:txBody>
      </p:sp>
      <p:sp>
        <p:nvSpPr>
          <p:cNvPr id="322" name="Google Shape;322;p20"/>
          <p:cNvSpPr txBox="1"/>
          <p:nvPr/>
        </p:nvSpPr>
        <p:spPr>
          <a:xfrm>
            <a:off x="6981825" y="3871912"/>
            <a:ext cx="4295775"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334155"/>
                </a:solidFill>
                <a:latin typeface="Roboto Medium"/>
                <a:ea typeface="Roboto Medium"/>
                <a:cs typeface="Roboto Medium"/>
                <a:sym typeface="Roboto Medium"/>
              </a:rPr>
              <a:t>256 GB Storage (SSD preferred)</a:t>
            </a:r>
            <a:endParaRPr/>
          </a:p>
        </p:txBody>
      </p:sp>
      <p:pic>
        <p:nvPicPr>
          <p:cNvPr id="323" name="Google Shape;323;p20" descr="image.png"/>
          <p:cNvPicPr preferRelativeResize="0"/>
          <p:nvPr/>
        </p:nvPicPr>
        <p:blipFill rotWithShape="1">
          <a:blip r:embed="rId9">
            <a:alphaModFix/>
          </a:blip>
          <a:srcRect/>
          <a:stretch/>
        </p:blipFill>
        <p:spPr>
          <a:xfrm>
            <a:off x="914400" y="3076575"/>
            <a:ext cx="209550" cy="219075"/>
          </a:xfrm>
          <a:prstGeom prst="rect">
            <a:avLst/>
          </a:prstGeom>
          <a:noFill/>
          <a:ln>
            <a:noFill/>
          </a:ln>
        </p:spPr>
      </p:pic>
      <p:pic>
        <p:nvPicPr>
          <p:cNvPr id="324" name="Google Shape;324;p20" descr="image.png"/>
          <p:cNvPicPr preferRelativeResize="0"/>
          <p:nvPr/>
        </p:nvPicPr>
        <p:blipFill rotWithShape="1">
          <a:blip r:embed="rId9">
            <a:alphaModFix/>
          </a:blip>
          <a:srcRect/>
          <a:stretch/>
        </p:blipFill>
        <p:spPr>
          <a:xfrm>
            <a:off x="914400" y="3476625"/>
            <a:ext cx="209550" cy="219075"/>
          </a:xfrm>
          <a:prstGeom prst="rect">
            <a:avLst/>
          </a:prstGeom>
          <a:noFill/>
          <a:ln>
            <a:noFill/>
          </a:ln>
        </p:spPr>
      </p:pic>
      <p:pic>
        <p:nvPicPr>
          <p:cNvPr id="325" name="Google Shape;325;p20" descr="image.png"/>
          <p:cNvPicPr preferRelativeResize="0"/>
          <p:nvPr/>
        </p:nvPicPr>
        <p:blipFill rotWithShape="1">
          <a:blip r:embed="rId9">
            <a:alphaModFix/>
          </a:blip>
          <a:srcRect/>
          <a:stretch/>
        </p:blipFill>
        <p:spPr>
          <a:xfrm>
            <a:off x="914400" y="3876675"/>
            <a:ext cx="209550" cy="219075"/>
          </a:xfrm>
          <a:prstGeom prst="rect">
            <a:avLst/>
          </a:prstGeom>
          <a:noFill/>
          <a:ln>
            <a:noFill/>
          </a:ln>
        </p:spPr>
      </p:pic>
      <p:pic>
        <p:nvPicPr>
          <p:cNvPr id="326" name="Google Shape;326;p20" descr="image.png"/>
          <p:cNvPicPr preferRelativeResize="0"/>
          <p:nvPr/>
        </p:nvPicPr>
        <p:blipFill rotWithShape="1">
          <a:blip r:embed="rId9">
            <a:alphaModFix/>
          </a:blip>
          <a:srcRect/>
          <a:stretch/>
        </p:blipFill>
        <p:spPr>
          <a:xfrm>
            <a:off x="914400" y="4276725"/>
            <a:ext cx="209550" cy="219075"/>
          </a:xfrm>
          <a:prstGeom prst="rect">
            <a:avLst/>
          </a:prstGeom>
          <a:noFill/>
          <a:ln>
            <a:noFill/>
          </a:ln>
        </p:spPr>
      </p:pic>
      <p:pic>
        <p:nvPicPr>
          <p:cNvPr id="327" name="Google Shape;327;p20" descr="image.png"/>
          <p:cNvPicPr preferRelativeResize="0"/>
          <p:nvPr/>
        </p:nvPicPr>
        <p:blipFill rotWithShape="1">
          <a:blip r:embed="rId9">
            <a:alphaModFix/>
          </a:blip>
          <a:srcRect/>
          <a:stretch/>
        </p:blipFill>
        <p:spPr>
          <a:xfrm>
            <a:off x="914400" y="4676775"/>
            <a:ext cx="209550" cy="219075"/>
          </a:xfrm>
          <a:prstGeom prst="rect">
            <a:avLst/>
          </a:prstGeom>
          <a:noFill/>
          <a:ln>
            <a:noFill/>
          </a:ln>
        </p:spPr>
      </p:pic>
      <p:pic>
        <p:nvPicPr>
          <p:cNvPr id="328" name="Google Shape;328;p20" descr="image.png"/>
          <p:cNvPicPr preferRelativeResize="0"/>
          <p:nvPr/>
        </p:nvPicPr>
        <p:blipFill rotWithShape="1">
          <a:blip r:embed="rId9">
            <a:alphaModFix/>
          </a:blip>
          <a:srcRect/>
          <a:stretch/>
        </p:blipFill>
        <p:spPr>
          <a:xfrm>
            <a:off x="914400" y="5076825"/>
            <a:ext cx="209550" cy="219075"/>
          </a:xfrm>
          <a:prstGeom prst="rect">
            <a:avLst/>
          </a:prstGeom>
          <a:noFill/>
          <a:ln>
            <a:noFill/>
          </a:ln>
        </p:spPr>
      </p:pic>
      <p:pic>
        <p:nvPicPr>
          <p:cNvPr id="329" name="Google Shape;329;p20" descr="image.png"/>
          <p:cNvPicPr preferRelativeResize="0"/>
          <p:nvPr/>
        </p:nvPicPr>
        <p:blipFill rotWithShape="1">
          <a:blip r:embed="rId9">
            <a:alphaModFix/>
          </a:blip>
          <a:srcRect/>
          <a:stretch/>
        </p:blipFill>
        <p:spPr>
          <a:xfrm>
            <a:off x="6629400" y="3076575"/>
            <a:ext cx="209550" cy="219075"/>
          </a:xfrm>
          <a:prstGeom prst="rect">
            <a:avLst/>
          </a:prstGeom>
          <a:noFill/>
          <a:ln>
            <a:noFill/>
          </a:ln>
        </p:spPr>
      </p:pic>
      <p:pic>
        <p:nvPicPr>
          <p:cNvPr id="330" name="Google Shape;330;p20" descr="image.png"/>
          <p:cNvPicPr preferRelativeResize="0"/>
          <p:nvPr/>
        </p:nvPicPr>
        <p:blipFill rotWithShape="1">
          <a:blip r:embed="rId9">
            <a:alphaModFix/>
          </a:blip>
          <a:srcRect/>
          <a:stretch/>
        </p:blipFill>
        <p:spPr>
          <a:xfrm>
            <a:off x="6629400" y="3476625"/>
            <a:ext cx="209550" cy="219075"/>
          </a:xfrm>
          <a:prstGeom prst="rect">
            <a:avLst/>
          </a:prstGeom>
          <a:noFill/>
          <a:ln>
            <a:noFill/>
          </a:ln>
        </p:spPr>
      </p:pic>
      <p:pic>
        <p:nvPicPr>
          <p:cNvPr id="331" name="Google Shape;331;p20" descr="image.png"/>
          <p:cNvPicPr preferRelativeResize="0"/>
          <p:nvPr/>
        </p:nvPicPr>
        <p:blipFill rotWithShape="1">
          <a:blip r:embed="rId9">
            <a:alphaModFix/>
          </a:blip>
          <a:srcRect/>
          <a:stretch/>
        </p:blipFill>
        <p:spPr>
          <a:xfrm>
            <a:off x="6629400" y="3876675"/>
            <a:ext cx="209550" cy="219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5"/>
        <p:cNvGrpSpPr/>
        <p:nvPr/>
      </p:nvGrpSpPr>
      <p:grpSpPr>
        <a:xfrm>
          <a:off x="0" y="0"/>
          <a:ext cx="0" cy="0"/>
          <a:chOff x="0" y="0"/>
          <a:chExt cx="0" cy="0"/>
        </a:xfrm>
      </p:grpSpPr>
      <p:pic>
        <p:nvPicPr>
          <p:cNvPr id="336" name="Google Shape;336;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37" name="Google Shape;337;p21" descr="image.png"/>
          <p:cNvPicPr preferRelativeResize="0"/>
          <p:nvPr/>
        </p:nvPicPr>
        <p:blipFill rotWithShape="1">
          <a:blip r:embed="rId4">
            <a:alphaModFix/>
          </a:blip>
          <a:srcRect/>
          <a:stretch/>
        </p:blipFill>
        <p:spPr>
          <a:xfrm>
            <a:off x="571500" y="6343650"/>
            <a:ext cx="11049000" cy="323850"/>
          </a:xfrm>
          <a:prstGeom prst="rect">
            <a:avLst/>
          </a:prstGeom>
          <a:noFill/>
          <a:ln>
            <a:noFill/>
          </a:ln>
        </p:spPr>
      </p:pic>
      <p:pic>
        <p:nvPicPr>
          <p:cNvPr id="338" name="Google Shape;338;p21" descr="image.png"/>
          <p:cNvPicPr preferRelativeResize="0"/>
          <p:nvPr/>
        </p:nvPicPr>
        <p:blipFill rotWithShape="1">
          <a:blip r:embed="rId5">
            <a:alphaModFix/>
          </a:blip>
          <a:srcRect/>
          <a:stretch/>
        </p:blipFill>
        <p:spPr>
          <a:xfrm>
            <a:off x="6334125" y="2276475"/>
            <a:ext cx="5286375" cy="3810000"/>
          </a:xfrm>
          <a:prstGeom prst="rect">
            <a:avLst/>
          </a:prstGeom>
          <a:noFill/>
          <a:ln>
            <a:noFill/>
          </a:ln>
        </p:spPr>
      </p:pic>
      <p:sp>
        <p:nvSpPr>
          <p:cNvPr id="339" name="Google Shape;339;p21"/>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A4275"/>
                </a:solidFill>
                <a:latin typeface="Montserrat"/>
                <a:ea typeface="Montserrat"/>
                <a:cs typeface="Montserrat"/>
                <a:sym typeface="Montserrat"/>
              </a:rPr>
              <a:t>Results and Discussion</a:t>
            </a:r>
            <a:endParaRPr/>
          </a:p>
        </p:txBody>
      </p:sp>
      <p:sp>
        <p:nvSpPr>
          <p:cNvPr id="340" name="Google Shape;340;p21"/>
          <p:cNvSpPr/>
          <p:nvPr/>
        </p:nvSpPr>
        <p:spPr>
          <a:xfrm>
            <a:off x="571500" y="1066800"/>
            <a:ext cx="11049000" cy="28575"/>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1" name="Google Shape;341;p21"/>
          <p:cNvSpPr txBox="1"/>
          <p:nvPr/>
        </p:nvSpPr>
        <p:spPr>
          <a:xfrm>
            <a:off x="571500" y="6496050"/>
            <a:ext cx="27336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PDA College of Engineering | AI &amp; ML Dept</a:t>
            </a:r>
            <a:endParaRPr/>
          </a:p>
        </p:txBody>
      </p:sp>
      <p:sp>
        <p:nvSpPr>
          <p:cNvPr id="342" name="Google Shape;342;p21"/>
          <p:cNvSpPr txBox="1"/>
          <p:nvPr/>
        </p:nvSpPr>
        <p:spPr>
          <a:xfrm>
            <a:off x="11182350" y="6496050"/>
            <a:ext cx="4381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Slide 9</a:t>
            </a:r>
            <a:endParaRPr/>
          </a:p>
        </p:txBody>
      </p:sp>
      <p:pic>
        <p:nvPicPr>
          <p:cNvPr id="343" name="Google Shape;343;p21" descr="image.png"/>
          <p:cNvPicPr preferRelativeResize="0"/>
          <p:nvPr/>
        </p:nvPicPr>
        <p:blipFill rotWithShape="1">
          <a:blip r:embed="rId6">
            <a:alphaModFix/>
          </a:blip>
          <a:srcRect/>
          <a:stretch/>
        </p:blipFill>
        <p:spPr>
          <a:xfrm>
            <a:off x="6372225" y="2314575"/>
            <a:ext cx="5210175" cy="3733800"/>
          </a:xfrm>
          <a:prstGeom prst="rect">
            <a:avLst/>
          </a:prstGeom>
          <a:noFill/>
          <a:ln>
            <a:noFill/>
          </a:ln>
        </p:spPr>
      </p:pic>
      <p:sp>
        <p:nvSpPr>
          <p:cNvPr id="344" name="Google Shape;344;p21"/>
          <p:cNvSpPr/>
          <p:nvPr/>
        </p:nvSpPr>
        <p:spPr>
          <a:xfrm>
            <a:off x="571500" y="147637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5" name="Google Shape;345;p21"/>
          <p:cNvSpPr txBox="1"/>
          <p:nvPr/>
        </p:nvSpPr>
        <p:spPr>
          <a:xfrm>
            <a:off x="1104900" y="1619250"/>
            <a:ext cx="456247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dirty="0">
                <a:solidFill>
                  <a:srgbClr val="334155"/>
                </a:solidFill>
                <a:latin typeface="Roboto"/>
                <a:ea typeface="Roboto"/>
                <a:cs typeface="Roboto"/>
                <a:sym typeface="Roboto"/>
              </a:rPr>
              <a:t>Appliance usage patterns are successfully and accurately identified.</a:t>
            </a:r>
            <a:endParaRPr dirty="0"/>
          </a:p>
        </p:txBody>
      </p:sp>
      <p:sp>
        <p:nvSpPr>
          <p:cNvPr id="346" name="Google Shape;346;p21"/>
          <p:cNvSpPr/>
          <p:nvPr/>
        </p:nvSpPr>
        <p:spPr>
          <a:xfrm>
            <a:off x="571500" y="147637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7" name="Google Shape;347;p21"/>
          <p:cNvSpPr/>
          <p:nvPr/>
        </p:nvSpPr>
        <p:spPr>
          <a:xfrm>
            <a:off x="571500" y="260032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8" name="Google Shape;348;p21"/>
          <p:cNvSpPr txBox="1"/>
          <p:nvPr/>
        </p:nvSpPr>
        <p:spPr>
          <a:xfrm>
            <a:off x="1076325" y="2743200"/>
            <a:ext cx="459105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Roboto"/>
                <a:ea typeface="Roboto"/>
                <a:cs typeface="Roboto"/>
                <a:sym typeface="Roboto"/>
              </a:rPr>
              <a:t>High-energy appliances are distinguished using unique power signatures.</a:t>
            </a:r>
            <a:endParaRPr/>
          </a:p>
        </p:txBody>
      </p:sp>
      <p:sp>
        <p:nvSpPr>
          <p:cNvPr id="349" name="Google Shape;349;p21"/>
          <p:cNvSpPr/>
          <p:nvPr/>
        </p:nvSpPr>
        <p:spPr>
          <a:xfrm>
            <a:off x="571500" y="260032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0" name="Google Shape;350;p21"/>
          <p:cNvSpPr/>
          <p:nvPr/>
        </p:nvSpPr>
        <p:spPr>
          <a:xfrm>
            <a:off x="571500" y="372427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1" name="Google Shape;351;p21"/>
          <p:cNvSpPr txBox="1"/>
          <p:nvPr/>
        </p:nvSpPr>
        <p:spPr>
          <a:xfrm>
            <a:off x="1190625" y="3867150"/>
            <a:ext cx="447675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dirty="0">
                <a:solidFill>
                  <a:srgbClr val="334155"/>
                </a:solidFill>
                <a:latin typeface="Roboto"/>
                <a:ea typeface="Roboto"/>
                <a:cs typeface="Roboto"/>
                <a:sym typeface="Roboto"/>
              </a:rPr>
              <a:t>Interactive dashboard heavily improves end-user awareness.</a:t>
            </a:r>
            <a:endParaRPr dirty="0"/>
          </a:p>
        </p:txBody>
      </p:sp>
      <p:sp>
        <p:nvSpPr>
          <p:cNvPr id="352" name="Google Shape;352;p21"/>
          <p:cNvSpPr/>
          <p:nvPr/>
        </p:nvSpPr>
        <p:spPr>
          <a:xfrm>
            <a:off x="571500" y="372427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3" name="Google Shape;353;p21"/>
          <p:cNvSpPr/>
          <p:nvPr/>
        </p:nvSpPr>
        <p:spPr>
          <a:xfrm>
            <a:off x="571500" y="4848225"/>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4" name="Google Shape;354;p21"/>
          <p:cNvSpPr txBox="1"/>
          <p:nvPr/>
        </p:nvSpPr>
        <p:spPr>
          <a:xfrm>
            <a:off x="1133475" y="4991100"/>
            <a:ext cx="453390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Roboto"/>
                <a:ea typeface="Roboto"/>
                <a:cs typeface="Roboto"/>
                <a:sym typeface="Roboto"/>
              </a:rPr>
              <a:t>Significantly reduced hardware requirements compared to traditional methods.</a:t>
            </a:r>
            <a:endParaRPr/>
          </a:p>
        </p:txBody>
      </p:sp>
      <p:sp>
        <p:nvSpPr>
          <p:cNvPr id="355" name="Google Shape;355;p21"/>
          <p:cNvSpPr/>
          <p:nvPr/>
        </p:nvSpPr>
        <p:spPr>
          <a:xfrm>
            <a:off x="571500" y="4848225"/>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6" name="Google Shape;356;p21"/>
          <p:cNvSpPr/>
          <p:nvPr/>
        </p:nvSpPr>
        <p:spPr>
          <a:xfrm>
            <a:off x="6418700" y="1333500"/>
            <a:ext cx="5286375" cy="914400"/>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7" name="Google Shape;357;p21"/>
          <p:cNvSpPr txBox="1"/>
          <p:nvPr/>
        </p:nvSpPr>
        <p:spPr>
          <a:xfrm>
            <a:off x="6896100" y="1484915"/>
            <a:ext cx="450532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dirty="0">
                <a:solidFill>
                  <a:srgbClr val="334155"/>
                </a:solidFill>
                <a:latin typeface="Roboto"/>
                <a:ea typeface="Roboto"/>
                <a:cs typeface="Roboto"/>
                <a:sym typeface="Roboto"/>
              </a:rPr>
              <a:t>Proved to be a highly scalable energy monitoring solution.</a:t>
            </a:r>
            <a:endParaRPr dirty="0"/>
          </a:p>
        </p:txBody>
      </p:sp>
      <p:sp>
        <p:nvSpPr>
          <p:cNvPr id="358" name="Google Shape;358;p21"/>
          <p:cNvSpPr/>
          <p:nvPr/>
        </p:nvSpPr>
        <p:spPr>
          <a:xfrm>
            <a:off x="6353175" y="1256972"/>
            <a:ext cx="38100" cy="914400"/>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59" name="Google Shape;359;p21" descr="image.png"/>
          <p:cNvPicPr preferRelativeResize="0"/>
          <p:nvPr/>
        </p:nvPicPr>
        <p:blipFill rotWithShape="1">
          <a:blip r:embed="rId7">
            <a:alphaModFix/>
          </a:blip>
          <a:srcRect/>
          <a:stretch/>
        </p:blipFill>
        <p:spPr>
          <a:xfrm>
            <a:off x="800100" y="1647825"/>
            <a:ext cx="200025" cy="247650"/>
          </a:xfrm>
          <a:prstGeom prst="rect">
            <a:avLst/>
          </a:prstGeom>
          <a:noFill/>
          <a:ln>
            <a:noFill/>
          </a:ln>
        </p:spPr>
      </p:pic>
      <p:pic>
        <p:nvPicPr>
          <p:cNvPr id="360" name="Google Shape;360;p21" descr="image.png"/>
          <p:cNvPicPr preferRelativeResize="0"/>
          <p:nvPr/>
        </p:nvPicPr>
        <p:blipFill rotWithShape="1">
          <a:blip r:embed="rId8">
            <a:alphaModFix/>
          </a:blip>
          <a:srcRect/>
          <a:stretch/>
        </p:blipFill>
        <p:spPr>
          <a:xfrm>
            <a:off x="800100" y="2771775"/>
            <a:ext cx="171450" cy="247650"/>
          </a:xfrm>
          <a:prstGeom prst="rect">
            <a:avLst/>
          </a:prstGeom>
          <a:noFill/>
          <a:ln>
            <a:noFill/>
          </a:ln>
        </p:spPr>
      </p:pic>
      <p:pic>
        <p:nvPicPr>
          <p:cNvPr id="361" name="Google Shape;361;p21" descr="image.png"/>
          <p:cNvPicPr preferRelativeResize="0"/>
          <p:nvPr/>
        </p:nvPicPr>
        <p:blipFill rotWithShape="1">
          <a:blip r:embed="rId9">
            <a:alphaModFix/>
          </a:blip>
          <a:srcRect/>
          <a:stretch/>
        </p:blipFill>
        <p:spPr>
          <a:xfrm>
            <a:off x="800100" y="3895725"/>
            <a:ext cx="285750" cy="247650"/>
          </a:xfrm>
          <a:prstGeom prst="rect">
            <a:avLst/>
          </a:prstGeom>
          <a:noFill/>
          <a:ln>
            <a:noFill/>
          </a:ln>
        </p:spPr>
      </p:pic>
      <p:pic>
        <p:nvPicPr>
          <p:cNvPr id="362" name="Google Shape;362;p21" descr="image.png"/>
          <p:cNvPicPr preferRelativeResize="0"/>
          <p:nvPr/>
        </p:nvPicPr>
        <p:blipFill rotWithShape="1">
          <a:blip r:embed="rId10">
            <a:alphaModFix/>
          </a:blip>
          <a:srcRect/>
          <a:stretch/>
        </p:blipFill>
        <p:spPr>
          <a:xfrm>
            <a:off x="800100" y="5019675"/>
            <a:ext cx="228600" cy="247650"/>
          </a:xfrm>
          <a:prstGeom prst="rect">
            <a:avLst/>
          </a:prstGeom>
          <a:noFill/>
          <a:ln>
            <a:noFill/>
          </a:ln>
        </p:spPr>
      </p:pic>
      <p:pic>
        <p:nvPicPr>
          <p:cNvPr id="363" name="Google Shape;363;p21" descr="image.png"/>
          <p:cNvPicPr preferRelativeResize="0"/>
          <p:nvPr/>
        </p:nvPicPr>
        <p:blipFill rotWithShape="1">
          <a:blip r:embed="rId11">
            <a:alphaModFix/>
          </a:blip>
          <a:srcRect/>
          <a:stretch/>
        </p:blipFill>
        <p:spPr>
          <a:xfrm>
            <a:off x="6549259" y="1666875"/>
            <a:ext cx="257175" cy="247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7"/>
        <p:cNvGrpSpPr/>
        <p:nvPr/>
      </p:nvGrpSpPr>
      <p:grpSpPr>
        <a:xfrm>
          <a:off x="0" y="0"/>
          <a:ext cx="0" cy="0"/>
          <a:chOff x="0" y="0"/>
          <a:chExt cx="0" cy="0"/>
        </a:xfrm>
      </p:grpSpPr>
      <p:pic>
        <p:nvPicPr>
          <p:cNvPr id="368" name="Google Shape;368;p22" descr="image.png"/>
          <p:cNvPicPr preferRelativeResize="0"/>
          <p:nvPr/>
        </p:nvPicPr>
        <p:blipFill rotWithShape="1">
          <a:blip r:embed="rId3">
            <a:alphaModFix/>
          </a:blip>
          <a:srcRect/>
          <a:stretch/>
        </p:blipFill>
        <p:spPr>
          <a:xfrm>
            <a:off x="-19050" y="0"/>
            <a:ext cx="12192000" cy="6858000"/>
          </a:xfrm>
          <a:prstGeom prst="rect">
            <a:avLst/>
          </a:prstGeom>
          <a:noFill/>
          <a:ln>
            <a:noFill/>
          </a:ln>
        </p:spPr>
      </p:pic>
      <p:pic>
        <p:nvPicPr>
          <p:cNvPr id="369" name="Google Shape;369;p22" descr="image.png"/>
          <p:cNvPicPr preferRelativeResize="0"/>
          <p:nvPr/>
        </p:nvPicPr>
        <p:blipFill rotWithShape="1">
          <a:blip r:embed="rId4">
            <a:alphaModFix/>
          </a:blip>
          <a:srcRect/>
          <a:stretch/>
        </p:blipFill>
        <p:spPr>
          <a:xfrm>
            <a:off x="571500" y="6343650"/>
            <a:ext cx="11049000" cy="323850"/>
          </a:xfrm>
          <a:prstGeom prst="rect">
            <a:avLst/>
          </a:prstGeom>
          <a:noFill/>
          <a:ln>
            <a:noFill/>
          </a:ln>
        </p:spPr>
      </p:pic>
      <p:sp>
        <p:nvSpPr>
          <p:cNvPr id="370" name="Google Shape;370;p22"/>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A4275"/>
                </a:solidFill>
                <a:latin typeface="Montserrat"/>
                <a:ea typeface="Montserrat"/>
                <a:cs typeface="Montserrat"/>
                <a:sym typeface="Montserrat"/>
              </a:rPr>
              <a:t>Conclusion and Future Scope</a:t>
            </a:r>
            <a:endParaRPr/>
          </a:p>
        </p:txBody>
      </p:sp>
      <p:sp>
        <p:nvSpPr>
          <p:cNvPr id="371" name="Google Shape;371;p22"/>
          <p:cNvSpPr/>
          <p:nvPr/>
        </p:nvSpPr>
        <p:spPr>
          <a:xfrm>
            <a:off x="571500" y="1066800"/>
            <a:ext cx="11049000" cy="28575"/>
          </a:xfrm>
          <a:prstGeom prst="rect">
            <a:avLst/>
          </a:prstGeom>
          <a:solidFill>
            <a:srgbClr val="1E81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2"/>
          <p:cNvSpPr txBox="1"/>
          <p:nvPr/>
        </p:nvSpPr>
        <p:spPr>
          <a:xfrm>
            <a:off x="571500" y="6496050"/>
            <a:ext cx="27336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PDA College of Engineering | AI &amp; ML Dept</a:t>
            </a:r>
            <a:endParaRPr/>
          </a:p>
        </p:txBody>
      </p:sp>
      <p:sp>
        <p:nvSpPr>
          <p:cNvPr id="373" name="Google Shape;373;p22"/>
          <p:cNvSpPr txBox="1"/>
          <p:nvPr/>
        </p:nvSpPr>
        <p:spPr>
          <a:xfrm>
            <a:off x="11096625" y="6496050"/>
            <a:ext cx="5238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64748B"/>
                </a:solidFill>
                <a:latin typeface="Roboto Medium"/>
                <a:ea typeface="Roboto Medium"/>
                <a:cs typeface="Roboto Medium"/>
                <a:sym typeface="Roboto Medium"/>
              </a:rPr>
              <a:t>Slide 10</a:t>
            </a:r>
            <a:endParaRPr/>
          </a:p>
        </p:txBody>
      </p:sp>
      <p:sp>
        <p:nvSpPr>
          <p:cNvPr id="2" name="Rectangle 1"/>
          <p:cNvSpPr/>
          <p:nvPr/>
        </p:nvSpPr>
        <p:spPr>
          <a:xfrm>
            <a:off x="462455" y="1678956"/>
            <a:ext cx="10005848" cy="3316292"/>
          </a:xfrm>
          <a:prstGeom prst="rect">
            <a:avLst/>
          </a:prstGeom>
        </p:spPr>
        <p:txBody>
          <a:bodyPr wrap="square">
            <a:spAutoFit/>
          </a:bodyPr>
          <a:lstStyle/>
          <a:p>
            <a:endParaRPr lang="en-US" dirty="0"/>
          </a:p>
          <a:p>
            <a:endParaRPr lang="en-US" dirty="0"/>
          </a:p>
          <a:p>
            <a:r>
              <a:rPr lang="en-US" sz="1650" dirty="0">
                <a:solidFill>
                  <a:srgbClr val="334155"/>
                </a:solidFill>
                <a:latin typeface="Roboto"/>
                <a:ea typeface="Roboto"/>
                <a:cs typeface="Roboto"/>
              </a:rPr>
              <a:t>The Smart Appliance Energy Monitor using Non-Intrusive Load Monitoring (NILM) is a cost-effective prototype for analyzing household energy consumption. It uses aggregate power data to identify appliance usage without requiring separate sensors for each device. The system demonstrates the application of Artificial Intelligence and Machine Learning in modern energy management. </a:t>
            </a:r>
            <a:r>
              <a:rPr lang="en-US" sz="1650" dirty="0">
                <a:solidFill>
                  <a:srgbClr val="334155"/>
                </a:solidFill>
                <a:latin typeface="Roboto"/>
                <a:ea typeface="Roboto"/>
                <a:cs typeface="Roboto"/>
              </a:rPr>
              <a:t>An interactive dashboard helps users visualize energy consumption patterns and improve energy awareness. </a:t>
            </a:r>
            <a:endParaRPr lang="en-US" sz="1650" dirty="0" smtClean="0">
              <a:solidFill>
                <a:srgbClr val="334155"/>
              </a:solidFill>
              <a:latin typeface="Roboto"/>
              <a:ea typeface="Roboto"/>
              <a:cs typeface="Roboto"/>
            </a:endParaRPr>
          </a:p>
          <a:p>
            <a:r>
              <a:rPr lang="en-US" sz="1650" dirty="0" smtClean="0">
                <a:solidFill>
                  <a:srgbClr val="334155"/>
                </a:solidFill>
                <a:latin typeface="Roboto"/>
                <a:ea typeface="Roboto"/>
                <a:cs typeface="Roboto"/>
              </a:rPr>
              <a:t>The </a:t>
            </a:r>
            <a:r>
              <a:rPr lang="en-US" sz="1650" dirty="0">
                <a:solidFill>
                  <a:srgbClr val="334155"/>
                </a:solidFill>
                <a:latin typeface="Roboto"/>
                <a:ea typeface="Roboto"/>
                <a:cs typeface="Roboto"/>
              </a:rPr>
              <a:t>prototype reduces hardware complexity while supporting efficient electricity utilization. It also highlights the potential of NILM technology for smart home applications</a:t>
            </a:r>
            <a:r>
              <a:rPr lang="en-US" sz="1650" dirty="0" smtClean="0">
                <a:solidFill>
                  <a:srgbClr val="334155"/>
                </a:solidFill>
                <a:latin typeface="Roboto"/>
                <a:ea typeface="Roboto"/>
                <a:cs typeface="Roboto"/>
              </a:rPr>
              <a:t>.</a:t>
            </a:r>
          </a:p>
          <a:p>
            <a:endParaRPr lang="en-US" sz="1650" dirty="0">
              <a:solidFill>
                <a:srgbClr val="334155"/>
              </a:solidFill>
              <a:latin typeface="Roboto"/>
              <a:ea typeface="Roboto"/>
              <a:cs typeface="Roboto"/>
            </a:endParaRPr>
          </a:p>
          <a:p>
            <a:r>
              <a:rPr lang="en-US" sz="1650" dirty="0" smtClean="0">
                <a:solidFill>
                  <a:srgbClr val="334155"/>
                </a:solidFill>
                <a:latin typeface="Roboto"/>
                <a:ea typeface="Roboto"/>
                <a:cs typeface="Roboto"/>
              </a:rPr>
              <a:t> </a:t>
            </a:r>
            <a:r>
              <a:rPr lang="en-US" sz="1650" dirty="0">
                <a:solidFill>
                  <a:srgbClr val="334155"/>
                </a:solidFill>
                <a:latin typeface="Roboto"/>
                <a:ea typeface="Roboto"/>
                <a:cs typeface="Roboto"/>
              </a:rPr>
              <a:t>Overall, the project provides a scalable and user-friendly approach to energy monitoring and conservation. </a:t>
            </a:r>
            <a:r>
              <a:rPr lang="en-US" sz="1650" dirty="0">
                <a:solidFill>
                  <a:srgbClr val="334155"/>
                </a:solidFill>
                <a:latin typeface="Roboto"/>
                <a:ea typeface="Roboto"/>
                <a:cs typeface="Roboto"/>
              </a:rPr>
              <a:t>Future enhancements such as </a:t>
            </a:r>
            <a:r>
              <a:rPr lang="en-US" sz="1650" dirty="0" err="1">
                <a:solidFill>
                  <a:srgbClr val="334155"/>
                </a:solidFill>
                <a:latin typeface="Roboto"/>
                <a:ea typeface="Roboto"/>
                <a:cs typeface="Roboto"/>
              </a:rPr>
              <a:t>IoT</a:t>
            </a:r>
            <a:r>
              <a:rPr lang="en-US" sz="1650" dirty="0">
                <a:solidFill>
                  <a:srgbClr val="334155"/>
                </a:solidFill>
                <a:latin typeface="Roboto"/>
                <a:ea typeface="Roboto"/>
                <a:cs typeface="Roboto"/>
              </a:rPr>
              <a:t> integration, real-time monitoring, and advanced deep learning techniques can further improve its accuracy, performance, and practical usability.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368;p22" descr="image.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 name="Google Shape;350;p21"/>
          <p:cNvSpPr/>
          <p:nvPr/>
        </p:nvSpPr>
        <p:spPr>
          <a:xfrm>
            <a:off x="2988878" y="2060027"/>
            <a:ext cx="5286375" cy="1579179"/>
          </a:xfrm>
          <a:prstGeom prst="roundRect">
            <a:avLst>
              <a:gd name="adj" fmla="val 833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7200" u="sng" dirty="0">
                <a:solidFill>
                  <a:srgbClr val="334155"/>
                </a:solidFill>
                <a:latin typeface="Roboto"/>
                <a:ea typeface="Roboto"/>
                <a:cs typeface="Roboto"/>
                <a:sym typeface="Calibri"/>
              </a:rPr>
              <a:t>THANK YOU</a:t>
            </a:r>
            <a:endParaRPr sz="7200" u="sng" dirty="0">
              <a:solidFill>
                <a:srgbClr val="334155"/>
              </a:solidFill>
              <a:latin typeface="Roboto"/>
              <a:ea typeface="Roboto"/>
              <a:cs typeface="Roboto"/>
              <a:sym typeface="Calibri"/>
            </a:endParaRPr>
          </a:p>
        </p:txBody>
      </p:sp>
    </p:spTree>
    <p:extLst>
      <p:ext uri="{BB962C8B-B14F-4D97-AF65-F5344CB8AC3E}">
        <p14:creationId xmlns:p14="http://schemas.microsoft.com/office/powerpoint/2010/main" val="307232211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631</Words>
  <Application>Microsoft Office PowerPoint</Application>
  <PresentationFormat>Custom</PresentationFormat>
  <Paragraphs>81</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Montserrat ExtraBold</vt:lpstr>
      <vt:lpstr>Calibri</vt:lpstr>
      <vt:lpstr>Roboto</vt:lpstr>
      <vt:lpstr>Montserrat</vt:lpstr>
      <vt:lpstr>Roboto Medium</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4</cp:revision>
  <dcterms:modified xsi:type="dcterms:W3CDTF">2026-06-11T03:52:13Z</dcterms:modified>
</cp:coreProperties>
</file>